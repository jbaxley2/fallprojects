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2" r:id="rId1"/>
  </p:sldMasterIdLst>
  <p:notesMasterIdLst>
    <p:notesMasterId r:id="rId10"/>
  </p:notesMasterIdLst>
  <p:handoutMasterIdLst>
    <p:handoutMasterId r:id="rId11"/>
  </p:handoutMasterIdLst>
  <p:sldIdLst>
    <p:sldId id="323" r:id="rId2"/>
    <p:sldId id="326" r:id="rId3"/>
    <p:sldId id="327" r:id="rId4"/>
    <p:sldId id="329" r:id="rId5"/>
    <p:sldId id="330" r:id="rId6"/>
    <p:sldId id="331" r:id="rId7"/>
    <p:sldId id="377" r:id="rId8"/>
    <p:sldId id="37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131" autoAdjust="0"/>
    <p:restoredTop sz="86452" autoAdjust="0"/>
  </p:normalViewPr>
  <p:slideViewPr>
    <p:cSldViewPr>
      <p:cViewPr varScale="1">
        <p:scale>
          <a:sx n="85" d="100"/>
          <a:sy n="85" d="100"/>
        </p:scale>
        <p:origin x="125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633A84-D730-4DB1-B585-7559B92CE5D8}" type="datetimeFigureOut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669EC8-97E7-4C24-A864-1853E7508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57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2C5A2EE-74B4-4329-B2EC-6DFE0575E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556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PT Backgrounds_NEW COLORS5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88388" cy="6858000"/>
          </a:xfrm>
          <a:prstGeom prst="rect">
            <a:avLst/>
          </a:prstGeom>
        </p:spPr>
      </p:pic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05891" y="2546143"/>
            <a:ext cx="8480869" cy="5852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800" kern="1200" cap="all" spc="100" baseline="0">
                <a:solidFill>
                  <a:srgbClr val="E89223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</a:t>
            </a: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591125"/>
            <a:ext cx="8480869" cy="842361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400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TITLE GOES HERE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675" y="5036259"/>
            <a:ext cx="1486976" cy="109359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675" y="5036259"/>
            <a:ext cx="1486976" cy="1093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2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ubhead w_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PPT Backgrounds_NEW COLORS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" y="0"/>
            <a:ext cx="12188388" cy="6858000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7350" y="2152733"/>
            <a:ext cx="8547885" cy="43881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7A800"/>
              </a:buClr>
              <a:buFont typeface="Arial"/>
              <a:buNone/>
              <a:defRPr sz="1800" b="0" i="0" kern="1200" spc="0" baseline="0">
                <a:solidFill>
                  <a:srgbClr val="142C46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7A800"/>
              </a:buClr>
              <a:buFont typeface="Arial" pitchFamily="34" charset="0"/>
              <a:buChar char="•"/>
              <a:defRPr sz="1800" b="0" i="0" kern="1200" spc="0" baseline="0">
                <a:solidFill>
                  <a:srgbClr val="142C46"/>
                </a:solidFill>
                <a:latin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7A800"/>
              </a:buClr>
              <a:buFont typeface="Arial" pitchFamily="34" charset="0"/>
              <a:buChar char="•"/>
              <a:defRPr sz="1800" b="0" i="0" kern="1200" spc="0" baseline="0">
                <a:solidFill>
                  <a:srgbClr val="142C46"/>
                </a:solidFill>
                <a:latin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7A800"/>
              </a:buClr>
              <a:buFont typeface="Arial" pitchFamily="34" charset="0"/>
              <a:buChar char="•"/>
              <a:defRPr sz="1800" b="0" i="0" kern="1200" spc="0" baseline="0">
                <a:solidFill>
                  <a:srgbClr val="142C46"/>
                </a:solidFill>
                <a:latin typeface="+mn-lt"/>
              </a:defRPr>
            </a:lvl4pPr>
            <a:lvl5pPr marL="1828800" indent="0">
              <a:buClr>
                <a:srgbClr val="F7A800"/>
              </a:buClr>
              <a:buFont typeface="Arial" pitchFamily="34" charset="0"/>
              <a:buNone/>
              <a:defRPr sz="1800" b="0" i="0" kern="1200" spc="100" baseline="0">
                <a:solidFill>
                  <a:schemeClr val="bg1"/>
                </a:solidFill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Paragraph goes here. </a:t>
            </a:r>
          </a:p>
          <a:p>
            <a:pPr lvl="0"/>
            <a:r>
              <a:rPr lang="en-US" dirty="0"/>
              <a:t>And here as well if there is a second paragraph.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0" hasCustomPrompt="1"/>
          </p:nvPr>
        </p:nvSpPr>
        <p:spPr>
          <a:xfrm>
            <a:off x="761232" y="1303780"/>
            <a:ext cx="8544003" cy="5852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 kern="1200" cap="all" spc="100" baseline="0">
                <a:solidFill>
                  <a:srgbClr val="E89223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675" y="5036259"/>
            <a:ext cx="1486976" cy="109359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675" y="5036259"/>
            <a:ext cx="1486976" cy="1093596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761232" y="726019"/>
            <a:ext cx="8544003" cy="51223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400" b="1" i="0" cap="all" baseline="0">
                <a:latin typeface="+mj-lt"/>
              </a:defRPr>
            </a:lvl1pPr>
          </a:lstStyle>
          <a:p>
            <a:pPr lvl="0"/>
            <a:r>
              <a:rPr lang="en-US" dirty="0"/>
              <a:t>Subhead (One line or two)</a:t>
            </a:r>
          </a:p>
        </p:txBody>
      </p:sp>
    </p:spTree>
    <p:extLst>
      <p:ext uri="{BB962C8B-B14F-4D97-AF65-F5344CB8AC3E}">
        <p14:creationId xmlns:p14="http://schemas.microsoft.com/office/powerpoint/2010/main" val="1072476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ubhead w_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PT Backgrounds_NEW COLORS3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88388" cy="6858000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7350" y="2152733"/>
            <a:ext cx="8547885" cy="43881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7A800"/>
              </a:buClr>
              <a:buFont typeface="Arial"/>
              <a:buNone/>
              <a:defRPr sz="1800" b="0" i="0" kern="1200" spc="0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7A800"/>
              </a:buClr>
              <a:buFont typeface="Arial" pitchFamily="34" charset="0"/>
              <a:buChar char="•"/>
              <a:defRPr sz="1800" b="0" i="0" kern="1200" spc="0" baseline="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7A800"/>
              </a:buClr>
              <a:buFont typeface="Arial" pitchFamily="34" charset="0"/>
              <a:buChar char="•"/>
              <a:defRPr sz="1800" b="0" i="0" kern="1200" spc="0" baseline="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7A800"/>
              </a:buClr>
              <a:buFont typeface="Arial" pitchFamily="34" charset="0"/>
              <a:buChar char="•"/>
              <a:defRPr sz="1800" b="0" i="0" kern="1200" spc="0" baseline="0">
                <a:solidFill>
                  <a:schemeClr val="bg1"/>
                </a:solidFill>
                <a:latin typeface="+mn-lt"/>
              </a:defRPr>
            </a:lvl4pPr>
            <a:lvl5pPr marL="1828800" indent="0">
              <a:buClr>
                <a:srgbClr val="F7A800"/>
              </a:buClr>
              <a:buFont typeface="Arial" pitchFamily="34" charset="0"/>
              <a:buNone/>
              <a:defRPr sz="1800" b="0" i="0" kern="1200" spc="100" baseline="0">
                <a:solidFill>
                  <a:schemeClr val="bg1"/>
                </a:solidFill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Paragraph goes here. </a:t>
            </a:r>
          </a:p>
          <a:p>
            <a:pPr lvl="0"/>
            <a:r>
              <a:rPr lang="en-US" dirty="0"/>
              <a:t>And here as well if there is a second paragraph.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0" hasCustomPrompt="1"/>
          </p:nvPr>
        </p:nvSpPr>
        <p:spPr>
          <a:xfrm>
            <a:off x="761232" y="1303780"/>
            <a:ext cx="8544003" cy="5852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 b="1" kern="1200" cap="all" spc="100" baseline="0">
                <a:solidFill>
                  <a:srgbClr val="0C436A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675" y="5036259"/>
            <a:ext cx="1486976" cy="109359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675" y="5036259"/>
            <a:ext cx="1486976" cy="1093596"/>
          </a:xfrm>
          <a:prstGeom prst="rect">
            <a:avLst/>
          </a:prstGeom>
        </p:spPr>
      </p:pic>
      <p:sp>
        <p:nvSpPr>
          <p:cNvPr id="12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761232" y="726019"/>
            <a:ext cx="8544003" cy="51223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400" b="1" i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 (One line or two)</a:t>
            </a:r>
          </a:p>
        </p:txBody>
      </p:sp>
    </p:spTree>
    <p:extLst>
      <p:ext uri="{BB962C8B-B14F-4D97-AF65-F5344CB8AC3E}">
        <p14:creationId xmlns:p14="http://schemas.microsoft.com/office/powerpoint/2010/main" val="276860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ubhead w_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PT Backgrounds_NEW COLORS4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88388" cy="6858000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7350" y="2152733"/>
            <a:ext cx="8547885" cy="43881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7A800"/>
              </a:buClr>
              <a:buFont typeface="Arial"/>
              <a:buNone/>
              <a:defRPr sz="1800" b="0" i="0" kern="1200" spc="0" baseline="0">
                <a:solidFill>
                  <a:srgbClr val="FFFFFF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7A800"/>
              </a:buClr>
              <a:buFont typeface="Arial" pitchFamily="34" charset="0"/>
              <a:buChar char="•"/>
              <a:defRPr sz="1800" b="0" i="0" kern="1200" spc="0" baseline="0">
                <a:solidFill>
                  <a:srgbClr val="FFFFFF"/>
                </a:solidFill>
                <a:latin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7A800"/>
              </a:buClr>
              <a:buFont typeface="Arial" pitchFamily="34" charset="0"/>
              <a:buChar char="•"/>
              <a:defRPr sz="1800" b="0" i="0" kern="1200" spc="0" baseline="0">
                <a:solidFill>
                  <a:srgbClr val="FFFFFF"/>
                </a:solidFill>
                <a:latin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7A800"/>
              </a:buClr>
              <a:buFont typeface="Arial" pitchFamily="34" charset="0"/>
              <a:buChar char="•"/>
              <a:defRPr sz="1800" b="0" i="0" kern="1200" spc="0" baseline="0">
                <a:solidFill>
                  <a:srgbClr val="FFFFFF"/>
                </a:solidFill>
                <a:latin typeface="+mn-lt"/>
              </a:defRPr>
            </a:lvl4pPr>
            <a:lvl5pPr marL="1828800" indent="0">
              <a:buClr>
                <a:srgbClr val="F7A800"/>
              </a:buClr>
              <a:buFont typeface="Arial" pitchFamily="34" charset="0"/>
              <a:buNone/>
              <a:defRPr sz="1800" b="0" i="0" kern="1200" spc="100" baseline="0">
                <a:solidFill>
                  <a:schemeClr val="bg1"/>
                </a:solidFill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Paragraph goes here. </a:t>
            </a:r>
          </a:p>
          <a:p>
            <a:pPr lvl="0"/>
            <a:r>
              <a:rPr lang="en-US" dirty="0"/>
              <a:t>And here as well if there is a second paragraph.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0" hasCustomPrompt="1"/>
          </p:nvPr>
        </p:nvSpPr>
        <p:spPr>
          <a:xfrm>
            <a:off x="761232" y="1303780"/>
            <a:ext cx="8480869" cy="5852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 b="1" kern="1200" cap="all" spc="100" baseline="0">
                <a:solidFill>
                  <a:srgbClr val="238DC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675" y="5036259"/>
            <a:ext cx="1486976" cy="109359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675" y="5036259"/>
            <a:ext cx="1486976" cy="1093596"/>
          </a:xfrm>
          <a:prstGeom prst="rect">
            <a:avLst/>
          </a:prstGeom>
        </p:spPr>
      </p:pic>
      <p:sp>
        <p:nvSpPr>
          <p:cNvPr id="14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761232" y="726019"/>
            <a:ext cx="8544003" cy="51223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400" b="1" i="0" cap="all" baseline="0">
                <a:solidFill>
                  <a:srgbClr val="E8922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 (One line or two)</a:t>
            </a:r>
          </a:p>
        </p:txBody>
      </p:sp>
    </p:spTree>
    <p:extLst>
      <p:ext uri="{BB962C8B-B14F-4D97-AF65-F5344CB8AC3E}">
        <p14:creationId xmlns:p14="http://schemas.microsoft.com/office/powerpoint/2010/main" val="2837035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PT Backgrounds_NEW COLORS5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88388" cy="6858000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1140276" y="1922960"/>
            <a:ext cx="3982179" cy="4070297"/>
          </a:xfrm>
          <a:solidFill>
            <a:schemeClr val="bg1"/>
          </a:solidFill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FontTx/>
              <a:buNone/>
              <a:defRPr sz="1400" baseline="0">
                <a:solidFill>
                  <a:srgbClr val="909C9C"/>
                </a:solidFill>
              </a:defRPr>
            </a:lvl1pPr>
          </a:lstStyle>
          <a:p>
            <a:r>
              <a:rPr lang="en-US" dirty="0"/>
              <a:t>Drag photo here or click icon to insert photo in placeholder</a:t>
            </a:r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5" hasCustomPrompt="1"/>
          </p:nvPr>
        </p:nvSpPr>
        <p:spPr>
          <a:xfrm>
            <a:off x="5689600" y="1922960"/>
            <a:ext cx="3982179" cy="4070297"/>
          </a:xfrm>
          <a:solidFill>
            <a:schemeClr val="bg1"/>
          </a:solidFill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FontTx/>
              <a:buNone/>
              <a:defRPr sz="1400" baseline="0">
                <a:solidFill>
                  <a:srgbClr val="909C9C"/>
                </a:solidFill>
              </a:defRPr>
            </a:lvl1pPr>
          </a:lstStyle>
          <a:p>
            <a:r>
              <a:rPr lang="en-US" dirty="0"/>
              <a:t>Drag photo here or click icon to insert photo in placeholder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675" y="5036259"/>
            <a:ext cx="1486976" cy="109359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675" y="5036259"/>
            <a:ext cx="1486976" cy="1093596"/>
          </a:xfrm>
          <a:prstGeom prst="rect">
            <a:avLst/>
          </a:prstGeom>
        </p:spPr>
      </p:pic>
      <p:sp>
        <p:nvSpPr>
          <p:cNvPr id="15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761232" y="726019"/>
            <a:ext cx="8544003" cy="51223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400" b="1" i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 (One line or two)</a:t>
            </a:r>
          </a:p>
        </p:txBody>
      </p:sp>
    </p:spTree>
    <p:extLst>
      <p:ext uri="{BB962C8B-B14F-4D97-AF65-F5344CB8AC3E}">
        <p14:creationId xmlns:p14="http://schemas.microsoft.com/office/powerpoint/2010/main" val="1754805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s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PT Backgrounds_NEW COLORS5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88388" cy="685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675" y="5036259"/>
            <a:ext cx="1486976" cy="1093596"/>
          </a:xfrm>
          <a:prstGeom prst="rect">
            <a:avLst/>
          </a:prstGeom>
        </p:spPr>
      </p:pic>
      <p:sp>
        <p:nvSpPr>
          <p:cNvPr id="9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1140275" y="1922960"/>
            <a:ext cx="8531504" cy="4070297"/>
          </a:xfrm>
          <a:solidFill>
            <a:schemeClr val="bg1"/>
          </a:solidFill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FontTx/>
              <a:buNone/>
              <a:defRPr sz="1400" baseline="0">
                <a:solidFill>
                  <a:srgbClr val="909C9C"/>
                </a:solidFill>
              </a:defRPr>
            </a:lvl1pPr>
          </a:lstStyle>
          <a:p>
            <a:r>
              <a:rPr lang="en-US" dirty="0"/>
              <a:t>Drag photo here or click icon to insert photo in placeholder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675" y="5036259"/>
            <a:ext cx="1486976" cy="1093596"/>
          </a:xfrm>
          <a:prstGeom prst="rect">
            <a:avLst/>
          </a:prstGeom>
        </p:spPr>
      </p:pic>
      <p:sp>
        <p:nvSpPr>
          <p:cNvPr id="13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761232" y="726019"/>
            <a:ext cx="8544003" cy="51223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400" b="1" i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 (One line or two)</a:t>
            </a:r>
          </a:p>
        </p:txBody>
      </p:sp>
    </p:spTree>
    <p:extLst>
      <p:ext uri="{BB962C8B-B14F-4D97-AF65-F5344CB8AC3E}">
        <p14:creationId xmlns:p14="http://schemas.microsoft.com/office/powerpoint/2010/main" val="1657911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los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Backgrounds_NEW COLORS5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88388" cy="6858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232" y="2137831"/>
            <a:ext cx="3516973" cy="258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497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685800"/>
            <a:ext cx="10363200" cy="553998"/>
          </a:xfrm>
        </p:spPr>
        <p:txBody>
          <a:bodyPr lIns="0" tIns="0" rIns="0" bIns="0" anchor="t" anchorCtr="0">
            <a:spAutoFit/>
          </a:bodyPr>
          <a:lstStyle>
            <a:lvl1pPr>
              <a:defRPr sz="3600" b="1" i="0" baseline="0">
                <a:solidFill>
                  <a:srgbClr val="0033CC"/>
                </a:solidFill>
              </a:defRPr>
            </a:lvl1pPr>
          </a:lstStyle>
          <a:p>
            <a:r>
              <a:rPr lang="en-US" dirty="0"/>
              <a:t>Chapter number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JavaScript (2nd Ed.), C16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2015,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/>
              <a:t>Slide </a:t>
            </a:r>
            <a:fld id="{BF5C1183-B085-4070-A402-C03A3F977D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591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685800"/>
            <a:ext cx="9753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600" b="1" i="0" baseline="0">
                <a:solidFill>
                  <a:srgbClr val="0033CC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Murach's JavaScript (2nd Ed.), C16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2015,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843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Murach's JavaScript (2nd Ed.), C16</a:t>
            </a:r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© 2015, Mike Murach &amp; Associates, Inc.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/>
              <a:t>Slide </a:t>
            </a:r>
            <a:fld id="{BF5C1183-B085-4070-A402-C03A3F977D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39B886-8CF6-E85C-9CCB-607DCDD0D5D2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462304" y="5529669"/>
            <a:ext cx="1115232" cy="82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521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b="0" i="0" kern="1200" cap="all" spc="100">
          <a:solidFill>
            <a:srgbClr val="0C436A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F7A800"/>
        </a:buClr>
        <a:buFont typeface="Arial"/>
        <a:buChar char="•"/>
        <a:defRPr sz="3000" kern="1200" spc="100">
          <a:solidFill>
            <a:srgbClr val="238DC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F7A800"/>
        </a:buClr>
        <a:buFont typeface="Arial"/>
        <a:buChar char="–"/>
        <a:defRPr sz="2800" kern="1200" spc="100">
          <a:solidFill>
            <a:srgbClr val="238DC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F7A800"/>
        </a:buClr>
        <a:buFont typeface="Arial"/>
        <a:buChar char="•"/>
        <a:defRPr sz="2400" kern="1200" spc="100">
          <a:solidFill>
            <a:srgbClr val="238DC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F7A800"/>
        </a:buClr>
        <a:buFont typeface="Arial"/>
        <a:buChar char="–"/>
        <a:defRPr sz="2000" kern="1200" spc="100">
          <a:solidFill>
            <a:srgbClr val="238DC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F7A800"/>
        </a:buClr>
        <a:buFont typeface="Arial"/>
        <a:buChar char="»"/>
        <a:defRPr sz="2000" kern="1200" spc="100">
          <a:solidFill>
            <a:srgbClr val="238DC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package" Target="../embeddings/Microsoft_Word_Document1.docx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package" Target="../embeddings/Microsoft_Word_Document2.docx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package" Target="../embeddings/Microsoft_Word_Document3.docx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package" Target="../embeddings/Microsoft_Word_Document4.docx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package" Target="../embeddings/Microsoft_Word_Document5.docx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package" Target="../embeddings/Microsoft_Word_Document6.docx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1143000"/>
            <a:ext cx="7772400" cy="677108"/>
          </a:xfrm>
        </p:spPr>
        <p:txBody>
          <a:bodyPr/>
          <a:lstStyle/>
          <a:p>
            <a:r>
              <a:rPr lang="en-US" sz="4400" dirty="0">
                <a:solidFill>
                  <a:schemeClr val="bg1"/>
                </a:solidFill>
              </a:rPr>
              <a:t>Chapter 16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8877400"/>
              </p:ext>
            </p:extLst>
          </p:nvPr>
        </p:nvGraphicFramePr>
        <p:xfrm>
          <a:off x="2438400" y="1604963"/>
          <a:ext cx="7234238" cy="245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7315170" imgH="2480098" progId="Word.Document.12">
                  <p:embed/>
                </p:oleObj>
              </mc:Choice>
              <mc:Fallback>
                <p:oleObj name="Document" r:id="rId3" imgW="7315170" imgH="24800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38400" y="1604963"/>
                        <a:ext cx="7234238" cy="2454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4958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1"/>
            <a:ext cx="9372600" cy="800219"/>
          </a:xfrm>
        </p:spPr>
        <p:txBody>
          <a:bodyPr/>
          <a:lstStyle/>
          <a:p>
            <a:r>
              <a:rPr lang="en-US" dirty="0"/>
              <a:t>What happens when a data structure </a:t>
            </a:r>
            <a:br>
              <a:rPr lang="en-US" dirty="0"/>
            </a:br>
            <a:r>
              <a:rPr lang="en-US" dirty="0"/>
              <a:t>is serialized and deserialized – page 519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568044"/>
              </p:ext>
            </p:extLst>
          </p:nvPr>
        </p:nvGraphicFramePr>
        <p:xfrm>
          <a:off x="401638" y="1549400"/>
          <a:ext cx="9277350" cy="339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9346416" imgH="3417896" progId="Word.Document.12">
                  <p:embed/>
                </p:oleObj>
              </mc:Choice>
              <mc:Fallback>
                <p:oleObj name="Document" r:id="rId2" imgW="9346416" imgH="34178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1638" y="1549400"/>
                        <a:ext cx="9277350" cy="339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5929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common data formats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5831427"/>
              </p:ext>
            </p:extLst>
          </p:nvPr>
        </p:nvGraphicFramePr>
        <p:xfrm>
          <a:off x="2514601" y="1219200"/>
          <a:ext cx="7301323" cy="19558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1955878" progId="Word.Document.12">
                  <p:embed/>
                </p:oleObj>
              </mc:Choice>
              <mc:Fallback>
                <p:oleObj name="Document" r:id="rId2" imgW="7301323" imgH="19558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14601" y="1219200"/>
                        <a:ext cx="7301323" cy="19558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56671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685801"/>
            <a:ext cx="7315200" cy="800219"/>
          </a:xfrm>
        </p:spPr>
        <p:txBody>
          <a:bodyPr/>
          <a:lstStyle/>
          <a:p>
            <a:r>
              <a:rPr lang="en-US" dirty="0"/>
              <a:t>Some of the benefits of JavaScript Object Notation (JSON) – page 521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2401302"/>
              </p:ext>
            </p:extLst>
          </p:nvPr>
        </p:nvGraphicFramePr>
        <p:xfrm>
          <a:off x="2514601" y="1600201"/>
          <a:ext cx="7301323" cy="1546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1546483" progId="Word.Document.12">
                  <p:embed/>
                </p:oleObj>
              </mc:Choice>
              <mc:Fallback>
                <p:oleObj name="Document" r:id="rId2" imgW="7301323" imgH="15464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14601" y="1600201"/>
                        <a:ext cx="7301323" cy="15464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3179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of the JSON rules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2326409"/>
              </p:ext>
            </p:extLst>
          </p:nvPr>
        </p:nvGraphicFramePr>
        <p:xfrm>
          <a:off x="1171575" y="1277937"/>
          <a:ext cx="8551863" cy="306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737909" imgH="3148176" progId="Word.Document.12">
                  <p:embed/>
                </p:oleObj>
              </mc:Choice>
              <mc:Fallback>
                <p:oleObj name="Document" r:id="rId2" imgW="8737909" imgH="31481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71575" y="1277937"/>
                        <a:ext cx="8551863" cy="3065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6778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9753600" cy="400110"/>
          </a:xfrm>
        </p:spPr>
        <p:txBody>
          <a:bodyPr/>
          <a:lstStyle/>
          <a:p>
            <a:r>
              <a:rPr lang="en-US" dirty="0"/>
              <a:t>An object represented in JSON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6298679"/>
              </p:ext>
            </p:extLst>
          </p:nvPr>
        </p:nvGraphicFramePr>
        <p:xfrm>
          <a:off x="0" y="685800"/>
          <a:ext cx="11430000" cy="608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692848" imgH="4644814" progId="Word.Document.12">
                  <p:embed/>
                </p:oleObj>
              </mc:Choice>
              <mc:Fallback>
                <p:oleObj name="Document" r:id="rId2" imgW="8692848" imgH="464481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685800"/>
                        <a:ext cx="11430000" cy="6088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4616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5D167-821F-8C25-32B7-D6E08C2C5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37431"/>
            <a:ext cx="9753600" cy="400110"/>
          </a:xfrm>
        </p:spPr>
        <p:txBody>
          <a:bodyPr/>
          <a:lstStyle/>
          <a:p>
            <a:r>
              <a:rPr lang="en-US" dirty="0"/>
              <a:t>Internal JSON 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55F784-2EC9-85FB-BDF7-78998E30F4FA}"/>
              </a:ext>
            </a:extLst>
          </p:cNvPr>
          <p:cNvSpPr txBox="1"/>
          <p:nvPr/>
        </p:nvSpPr>
        <p:spPr>
          <a:xfrm>
            <a:off x="1066800" y="1219200"/>
            <a:ext cx="87630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DO: Create an index.html file and a script.js file in a </a:t>
            </a:r>
            <a:r>
              <a:rPr lang="en-US" dirty="0" err="1"/>
              <a:t>js</a:t>
            </a:r>
            <a:r>
              <a:rPr lang="en-US" dirty="0"/>
              <a:t> folder.</a:t>
            </a:r>
          </a:p>
          <a:p>
            <a:endParaRPr lang="en-US" dirty="0"/>
          </a:p>
          <a:p>
            <a:r>
              <a:rPr lang="en-US" dirty="0"/>
              <a:t>At the top of the </a:t>
            </a:r>
            <a:r>
              <a:rPr lang="en-US" dirty="0" err="1"/>
              <a:t>js</a:t>
            </a:r>
            <a:r>
              <a:rPr lang="en-US" dirty="0"/>
              <a:t> file, create a JSON object with the following internal objects: brunch, lunch, dinner.</a:t>
            </a:r>
          </a:p>
          <a:p>
            <a:endParaRPr lang="en-US" dirty="0"/>
          </a:p>
          <a:p>
            <a:r>
              <a:rPr lang="en-US" dirty="0"/>
              <a:t>In each object, create five identifiers that correlate to your favorite menu items. The identifiers should be named: special, appetizer, soup, </a:t>
            </a:r>
            <a:r>
              <a:rPr lang="en-US" dirty="0" err="1"/>
              <a:t>chef_choice</a:t>
            </a:r>
            <a:r>
              <a:rPr lang="en-US" dirty="0"/>
              <a:t>, dessert. Assign your favorite menu items to each of these identifiers for each object.</a:t>
            </a:r>
          </a:p>
          <a:p>
            <a:endParaRPr lang="en-US" dirty="0"/>
          </a:p>
          <a:p>
            <a:r>
              <a:rPr lang="en-US" dirty="0"/>
              <a:t>Using </a:t>
            </a:r>
            <a:r>
              <a:rPr lang="en-US" dirty="0" err="1"/>
              <a:t>document.write</a:t>
            </a:r>
            <a:r>
              <a:rPr lang="en-US" dirty="0"/>
              <a:t>, display in the index file the appetizer for brunch and also the chef's choice for dinner. Format in paragraphs.</a:t>
            </a:r>
          </a:p>
          <a:p>
            <a:endParaRPr lang="en-US" dirty="0"/>
          </a:p>
          <a:p>
            <a:r>
              <a:rPr lang="en-US" dirty="0"/>
              <a:t>Create another JSON object that is an array of objects. Each internal object should have three identifiers: flower, bird, name. Create at least six internal objects for six states and use Google to figure out the data for each identifier (state flower, state bird, state name). Using a for loop, write out however many objects are in your array to the screen, but the state name must come first (it cannot be first in each of the objects).</a:t>
            </a:r>
          </a:p>
        </p:txBody>
      </p:sp>
    </p:spTree>
    <p:extLst>
      <p:ext uri="{BB962C8B-B14F-4D97-AF65-F5344CB8AC3E}">
        <p14:creationId xmlns:p14="http://schemas.microsoft.com/office/powerpoint/2010/main" val="522218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JSON string stored in local storage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2072749"/>
              </p:ext>
            </p:extLst>
          </p:nvPr>
        </p:nvGraphicFramePr>
        <p:xfrm>
          <a:off x="2514600" y="1219200"/>
          <a:ext cx="7300912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921049" progId="Word.Document.12">
                  <p:embed/>
                </p:oleObj>
              </mc:Choice>
              <mc:Fallback>
                <p:oleObj name="Document" r:id="rId2" imgW="7301323" imgH="9210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14600" y="1219200"/>
                        <a:ext cx="7300912" cy="920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2160493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MTC Colors 2018">
      <a:dk1>
        <a:srgbClr val="142C45"/>
      </a:dk1>
      <a:lt1>
        <a:sysClr val="window" lastClr="FFFFFF"/>
      </a:lt1>
      <a:dk2>
        <a:srgbClr val="142C45"/>
      </a:dk2>
      <a:lt2>
        <a:srgbClr val="FFFFFE"/>
      </a:lt2>
      <a:accent1>
        <a:srgbClr val="192F5E"/>
      </a:accent1>
      <a:accent2>
        <a:srgbClr val="236E9E"/>
      </a:accent2>
      <a:accent3>
        <a:srgbClr val="F7A800"/>
      </a:accent3>
      <a:accent4>
        <a:srgbClr val="E75300"/>
      </a:accent4>
      <a:accent5>
        <a:srgbClr val="80BF1F"/>
      </a:accent5>
      <a:accent6>
        <a:srgbClr val="007166"/>
      </a:accent6>
      <a:hlink>
        <a:srgbClr val="879392"/>
      </a:hlink>
      <a:folHlink>
        <a:srgbClr val="BFC7C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1" id="{0313CD60-EA42-4A94-BBFB-17F9DF7D6425}" vid="{7B87027D-15CC-4AF2-9035-E41911AE03E6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15733</TotalTime>
  <Words>262</Words>
  <Application>Microsoft Office PowerPoint</Application>
  <PresentationFormat>Widescreen</PresentationFormat>
  <Paragraphs>17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Narrow</vt:lpstr>
      <vt:lpstr>Calibri</vt:lpstr>
      <vt:lpstr>Times New Roman</vt:lpstr>
      <vt:lpstr>Theme1</vt:lpstr>
      <vt:lpstr>Document</vt:lpstr>
      <vt:lpstr>Chapter 16</vt:lpstr>
      <vt:lpstr>What happens when a data structure  is serialized and deserialized – page 519</vt:lpstr>
      <vt:lpstr>Four common data formats</vt:lpstr>
      <vt:lpstr>Some of the benefits of JavaScript Object Notation (JSON) – page 521</vt:lpstr>
      <vt:lpstr>Some of the JSON rules</vt:lpstr>
      <vt:lpstr>An object represented in JSON</vt:lpstr>
      <vt:lpstr>Internal JSON Project</vt:lpstr>
      <vt:lpstr>The JSON string stored in local storage</vt:lpstr>
    </vt:vector>
  </TitlesOfParts>
  <Company>Mike Murach &amp;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Stephen</dc:creator>
  <cp:lastModifiedBy>Tiana Langer</cp:lastModifiedBy>
  <cp:revision>62</cp:revision>
  <dcterms:created xsi:type="dcterms:W3CDTF">2010-11-30T18:46:51Z</dcterms:created>
  <dcterms:modified xsi:type="dcterms:W3CDTF">2026-07-08T12:41:33Z</dcterms:modified>
</cp:coreProperties>
</file>