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2" r:id="rId1"/>
  </p:sldMasterIdLst>
  <p:notesMasterIdLst>
    <p:notesMasterId r:id="rId16"/>
  </p:notesMasterIdLst>
  <p:handoutMasterIdLst>
    <p:handoutMasterId r:id="rId17"/>
  </p:handoutMasterIdLst>
  <p:sldIdLst>
    <p:sldId id="323" r:id="rId2"/>
    <p:sldId id="326" r:id="rId3"/>
    <p:sldId id="327" r:id="rId4"/>
    <p:sldId id="329" r:id="rId5"/>
    <p:sldId id="330" r:id="rId6"/>
    <p:sldId id="331" r:id="rId7"/>
    <p:sldId id="333" r:id="rId8"/>
    <p:sldId id="336" r:id="rId9"/>
    <p:sldId id="337" r:id="rId10"/>
    <p:sldId id="338" r:id="rId11"/>
    <p:sldId id="339" r:id="rId12"/>
    <p:sldId id="340" r:id="rId13"/>
    <p:sldId id="376" r:id="rId14"/>
    <p:sldId id="37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86452" autoAdjust="0"/>
  </p:normalViewPr>
  <p:slideViewPr>
    <p:cSldViewPr>
      <p:cViewPr varScale="1">
        <p:scale>
          <a:sx n="96" d="100"/>
          <a:sy n="96" d="100"/>
        </p:scale>
        <p:origin x="86" y="13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765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pPr>
              <a:defRPr/>
            </a:pPr>
            <a:fld id="{94633A84-D730-4DB1-B585-7559B92CE5D8}" type="datetimeFigureOut">
              <a:rPr lang="en-US"/>
              <a:pPr>
                <a:defRPr/>
              </a:pPr>
              <a:t>5/22/2023</a:t>
            </a:fld>
            <a:endParaRPr lang="en-US"/>
          </a:p>
        </p:txBody>
      </p:sp>
      <p:sp>
        <p:nvSpPr>
          <p:cNvPr id="2765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765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1C669EC8-97E7-4C24-A864-1853E75085DC}" type="slidenum">
              <a:rPr lang="en-US"/>
              <a:pPr>
                <a:defRPr/>
              </a:pPr>
              <a:t>‹#›</a:t>
            </a:fld>
            <a:endParaRPr lang="en-US"/>
          </a:p>
        </p:txBody>
      </p:sp>
    </p:spTree>
    <p:extLst>
      <p:ext uri="{BB962C8B-B14F-4D97-AF65-F5344CB8AC3E}">
        <p14:creationId xmlns:p14="http://schemas.microsoft.com/office/powerpoint/2010/main" val="9789857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p>
        </p:txBody>
      </p:sp>
      <p:sp>
        <p:nvSpPr>
          <p:cNvPr id="553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82C5A2EE-74B4-4329-B2EC-6DFE0575EDC9}" type="slidenum">
              <a:rPr lang="en-US"/>
              <a:pPr>
                <a:defRPr/>
              </a:pPr>
              <a:t>‹#›</a:t>
            </a:fld>
            <a:endParaRPr lang="en-US"/>
          </a:p>
        </p:txBody>
      </p:sp>
    </p:spTree>
    <p:extLst>
      <p:ext uri="{BB962C8B-B14F-4D97-AF65-F5344CB8AC3E}">
        <p14:creationId xmlns:p14="http://schemas.microsoft.com/office/powerpoint/2010/main" val="2392455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82C5A2EE-74B4-4329-B2EC-6DFE0575EDC9}" type="slidenum">
              <a:rPr lang="en-US" smtClean="0"/>
              <a:pPr>
                <a:defRPr/>
              </a:pPr>
              <a:t>6</a:t>
            </a:fld>
            <a:endParaRPr lang="en-US"/>
          </a:p>
        </p:txBody>
      </p:sp>
    </p:spTree>
    <p:extLst>
      <p:ext uri="{BB962C8B-B14F-4D97-AF65-F5344CB8AC3E}">
        <p14:creationId xmlns:p14="http://schemas.microsoft.com/office/powerpoint/2010/main" val="4348502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age">
    <p:spTree>
      <p:nvGrpSpPr>
        <p:cNvPr id="1" name=""/>
        <p:cNvGrpSpPr/>
        <p:nvPr/>
      </p:nvGrpSpPr>
      <p:grpSpPr>
        <a:xfrm>
          <a:off x="0" y="0"/>
          <a:ext cx="0" cy="0"/>
          <a:chOff x="0" y="0"/>
          <a:chExt cx="0" cy="0"/>
        </a:xfrm>
      </p:grpSpPr>
      <p:pic>
        <p:nvPicPr>
          <p:cNvPr id="8" name="Picture 7"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6" name="Subtitle 2"/>
          <p:cNvSpPr>
            <a:spLocks noGrp="1"/>
          </p:cNvSpPr>
          <p:nvPr>
            <p:ph type="subTitle" idx="1" hasCustomPrompt="1"/>
          </p:nvPr>
        </p:nvSpPr>
        <p:spPr>
          <a:xfrm>
            <a:off x="905891" y="2546143"/>
            <a:ext cx="8480869" cy="585216"/>
          </a:xfrm>
          <a:prstGeom prst="rect">
            <a:avLst/>
          </a:prstGeom>
        </p:spPr>
        <p:txBody>
          <a:bodyPr>
            <a:noAutofit/>
          </a:bodyPr>
          <a:lstStyle>
            <a:lvl1pPr marL="0" indent="0" algn="l">
              <a:buNone/>
              <a:defRPr sz="2800" kern="1200" cap="all" spc="100" baseline="0">
                <a:solidFill>
                  <a:srgbClr val="E89223"/>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sp>
        <p:nvSpPr>
          <p:cNvPr id="7" name="Title 1"/>
          <p:cNvSpPr>
            <a:spLocks noGrp="1"/>
          </p:cNvSpPr>
          <p:nvPr>
            <p:ph type="ctrTitle" hasCustomPrompt="1"/>
          </p:nvPr>
        </p:nvSpPr>
        <p:spPr>
          <a:xfrm>
            <a:off x="914400" y="1591125"/>
            <a:ext cx="8480869" cy="842361"/>
          </a:xfrm>
          <a:prstGeom prst="rect">
            <a:avLst/>
          </a:prstGeom>
        </p:spPr>
        <p:txBody>
          <a:bodyPr>
            <a:noAutofit/>
          </a:bodyPr>
          <a:lstStyle>
            <a:lvl1pPr algn="l">
              <a:defRPr sz="4000" spc="100" baseline="0">
                <a:solidFill>
                  <a:schemeClr val="bg1"/>
                </a:solidFill>
                <a:latin typeface="+mj-lt"/>
              </a:defRPr>
            </a:lvl1pPr>
          </a:lstStyle>
          <a:p>
            <a:r>
              <a:rPr lang="en-US" dirty="0"/>
              <a:t>TITLE GOES HERE</a:t>
            </a:r>
          </a:p>
        </p:txBody>
      </p:sp>
      <p:pic>
        <p:nvPicPr>
          <p:cNvPr id="9" name="Picture 8"/>
          <p:cNvPicPr>
            <a:picLocks noChangeAspect="1"/>
          </p:cNvPicPr>
          <p:nvPr/>
        </p:nvPicPr>
        <p:blipFill>
          <a:blip r:embed="rId3"/>
          <a:stretch>
            <a:fillRect/>
          </a:stretch>
        </p:blipFill>
        <p:spPr>
          <a:xfrm>
            <a:off x="10244675" y="5036259"/>
            <a:ext cx="1486976" cy="1093596"/>
          </a:xfrm>
          <a:prstGeom prst="rect">
            <a:avLst/>
          </a:prstGeom>
        </p:spPr>
      </p:pic>
      <p:pic>
        <p:nvPicPr>
          <p:cNvPr id="10" name="Picture 9"/>
          <p:cNvPicPr>
            <a:picLocks noChangeAspect="1"/>
          </p:cNvPicPr>
          <p:nvPr/>
        </p:nvPicPr>
        <p:blipFill>
          <a:blip r:embed="rId3"/>
          <a:stretch>
            <a:fillRect/>
          </a:stretch>
        </p:blipFill>
        <p:spPr>
          <a:xfrm>
            <a:off x="10244675" y="5036259"/>
            <a:ext cx="1486976" cy="1093596"/>
          </a:xfrm>
          <a:prstGeom prst="rect">
            <a:avLst/>
          </a:prstGeom>
        </p:spPr>
      </p:pic>
    </p:spTree>
    <p:extLst>
      <p:ext uri="{BB962C8B-B14F-4D97-AF65-F5344CB8AC3E}">
        <p14:creationId xmlns:p14="http://schemas.microsoft.com/office/powerpoint/2010/main" val="484327249"/>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Subhead w_text_white">
    <p:spTree>
      <p:nvGrpSpPr>
        <p:cNvPr id="1" name=""/>
        <p:cNvGrpSpPr/>
        <p:nvPr/>
      </p:nvGrpSpPr>
      <p:grpSpPr>
        <a:xfrm>
          <a:off x="0" y="0"/>
          <a:ext cx="0" cy="0"/>
          <a:chOff x="0" y="0"/>
          <a:chExt cx="0" cy="0"/>
        </a:xfrm>
      </p:grpSpPr>
      <p:pic>
        <p:nvPicPr>
          <p:cNvPr id="11" name="Picture 10" descr="PPT Backgrounds_NEW COLORS2.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4"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rgbClr val="142C46"/>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rgbClr val="142C46"/>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544003" cy="585216"/>
          </a:xfrm>
          <a:prstGeom prst="rect">
            <a:avLst/>
          </a:prstGeom>
        </p:spPr>
        <p:txBody>
          <a:bodyPr>
            <a:noAutofit/>
          </a:bodyPr>
          <a:lstStyle>
            <a:lvl1pPr marL="0" indent="0" algn="l">
              <a:buNone/>
              <a:defRPr sz="1800" kern="1200" cap="all" spc="100" baseline="0">
                <a:solidFill>
                  <a:srgbClr val="E89223"/>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0" name="Picture 9"/>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6"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latin typeface="+mj-lt"/>
              </a:defRPr>
            </a:lvl1pPr>
          </a:lstStyle>
          <a:p>
            <a:pPr lvl="0"/>
            <a:r>
              <a:rPr lang="en-US" dirty="0"/>
              <a:t>Subhead (One line or two)</a:t>
            </a:r>
          </a:p>
        </p:txBody>
      </p:sp>
    </p:spTree>
    <p:extLst>
      <p:ext uri="{BB962C8B-B14F-4D97-AF65-F5344CB8AC3E}">
        <p14:creationId xmlns:p14="http://schemas.microsoft.com/office/powerpoint/2010/main" val="1072476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Subhead w_text_white">
    <p:spTree>
      <p:nvGrpSpPr>
        <p:cNvPr id="1" name=""/>
        <p:cNvGrpSpPr/>
        <p:nvPr/>
      </p:nvGrpSpPr>
      <p:grpSpPr>
        <a:xfrm>
          <a:off x="0" y="0"/>
          <a:ext cx="0" cy="0"/>
          <a:chOff x="0" y="0"/>
          <a:chExt cx="0" cy="0"/>
        </a:xfrm>
      </p:grpSpPr>
      <p:pic>
        <p:nvPicPr>
          <p:cNvPr id="10" name="Picture 9" descr="PPT Backgrounds_NEW COLORS3.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chemeClr val="bg1"/>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chemeClr val="bg1"/>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544003" cy="585216"/>
          </a:xfrm>
          <a:prstGeom prst="rect">
            <a:avLst/>
          </a:prstGeom>
        </p:spPr>
        <p:txBody>
          <a:bodyPr>
            <a:noAutofit/>
          </a:bodyPr>
          <a:lstStyle>
            <a:lvl1pPr marL="0" indent="0" algn="l">
              <a:buNone/>
              <a:defRPr sz="1800" b="1" kern="1200" cap="all" spc="100" baseline="0">
                <a:solidFill>
                  <a:srgbClr val="0C436A"/>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2"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276860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3_Subhead w_text_white">
    <p:spTree>
      <p:nvGrpSpPr>
        <p:cNvPr id="1" name=""/>
        <p:cNvGrpSpPr/>
        <p:nvPr/>
      </p:nvGrpSpPr>
      <p:grpSpPr>
        <a:xfrm>
          <a:off x="0" y="0"/>
          <a:ext cx="0" cy="0"/>
          <a:chOff x="0" y="0"/>
          <a:chExt cx="0" cy="0"/>
        </a:xfrm>
      </p:grpSpPr>
      <p:pic>
        <p:nvPicPr>
          <p:cNvPr id="10" name="Picture 9" descr="PPT Backgrounds_NEW COLORS4.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9" name="Content Placeholder 2"/>
          <p:cNvSpPr>
            <a:spLocks noGrp="1"/>
          </p:cNvSpPr>
          <p:nvPr>
            <p:ph sz="half" idx="1" hasCustomPrompt="1"/>
          </p:nvPr>
        </p:nvSpPr>
        <p:spPr>
          <a:xfrm>
            <a:off x="757350" y="2152733"/>
            <a:ext cx="8547885" cy="4388169"/>
          </a:xfrm>
          <a:prstGeom prst="rect">
            <a:avLst/>
          </a:prstGeom>
        </p:spPr>
        <p:txBody>
          <a:bodyPr>
            <a:normAutofit/>
          </a:bodyPr>
          <a:lstStyle>
            <a:lvl1pPr marL="0" indent="0">
              <a:lnSpc>
                <a:spcPct val="100000"/>
              </a:lnSpc>
              <a:spcBef>
                <a:spcPts val="0"/>
              </a:spcBef>
              <a:spcAft>
                <a:spcPts val="1000"/>
              </a:spcAft>
              <a:buClr>
                <a:srgbClr val="F7A800"/>
              </a:buClr>
              <a:buFont typeface="Arial"/>
              <a:buNone/>
              <a:defRPr sz="1800" b="0" i="0" kern="1200" spc="0" baseline="0">
                <a:solidFill>
                  <a:srgbClr val="FFFFFF"/>
                </a:solidFill>
                <a:latin typeface="+mn-lt"/>
              </a:defRPr>
            </a:lvl1pPr>
            <a:lvl2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2pPr>
            <a:lvl3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3pPr>
            <a:lvl4pPr>
              <a:lnSpc>
                <a:spcPct val="100000"/>
              </a:lnSpc>
              <a:spcBef>
                <a:spcPts val="0"/>
              </a:spcBef>
              <a:spcAft>
                <a:spcPts val="1000"/>
              </a:spcAft>
              <a:buClr>
                <a:srgbClr val="F7A800"/>
              </a:buClr>
              <a:buFont typeface="Arial" pitchFamily="34" charset="0"/>
              <a:buChar char="•"/>
              <a:defRPr sz="1800" b="0" i="0" kern="1200" spc="0" baseline="0">
                <a:solidFill>
                  <a:srgbClr val="FFFFFF"/>
                </a:solidFill>
                <a:latin typeface="+mn-lt"/>
              </a:defRPr>
            </a:lvl4pPr>
            <a:lvl5pPr marL="1828800" indent="0">
              <a:buClr>
                <a:srgbClr val="F7A800"/>
              </a:buClr>
              <a:buFont typeface="Arial" pitchFamily="34" charset="0"/>
              <a:buNone/>
              <a:defRPr sz="1800" b="0" i="0" kern="1200" spc="100" baseline="0">
                <a:solidFill>
                  <a:schemeClr val="bg1"/>
                </a:solidFill>
                <a:latin typeface="+mn-lt"/>
              </a:defRPr>
            </a:lvl5pPr>
            <a:lvl6pPr>
              <a:defRPr sz="1800"/>
            </a:lvl6pPr>
            <a:lvl7pPr>
              <a:defRPr sz="1800"/>
            </a:lvl7pPr>
            <a:lvl8pPr>
              <a:defRPr sz="1800"/>
            </a:lvl8pPr>
            <a:lvl9pPr>
              <a:defRPr sz="1800"/>
            </a:lvl9pPr>
          </a:lstStyle>
          <a:p>
            <a:pPr lvl="0"/>
            <a:r>
              <a:rPr lang="en-US" dirty="0"/>
              <a:t>Paragraph goes here. </a:t>
            </a:r>
          </a:p>
          <a:p>
            <a:pPr lvl="0"/>
            <a:r>
              <a:rPr lang="en-US" dirty="0"/>
              <a:t>And here as well if there is a second paragraph.</a:t>
            </a:r>
          </a:p>
          <a:p>
            <a:pPr lvl="1"/>
            <a:r>
              <a:rPr lang="en-US" dirty="0"/>
              <a:t>Second level</a:t>
            </a:r>
          </a:p>
          <a:p>
            <a:pPr lvl="2"/>
            <a:r>
              <a:rPr lang="en-US" dirty="0"/>
              <a:t>Third level</a:t>
            </a:r>
          </a:p>
          <a:p>
            <a:pPr lvl="3"/>
            <a:r>
              <a:rPr lang="en-US" dirty="0"/>
              <a:t>Fourth level</a:t>
            </a:r>
          </a:p>
        </p:txBody>
      </p:sp>
      <p:sp>
        <p:nvSpPr>
          <p:cNvPr id="8" name="Subtitle 2"/>
          <p:cNvSpPr>
            <a:spLocks noGrp="1"/>
          </p:cNvSpPr>
          <p:nvPr>
            <p:ph type="subTitle" idx="10" hasCustomPrompt="1"/>
          </p:nvPr>
        </p:nvSpPr>
        <p:spPr>
          <a:xfrm>
            <a:off x="761232" y="1303780"/>
            <a:ext cx="8480869" cy="585216"/>
          </a:xfrm>
          <a:prstGeom prst="rect">
            <a:avLst/>
          </a:prstGeom>
        </p:spPr>
        <p:txBody>
          <a:bodyPr>
            <a:noAutofit/>
          </a:bodyPr>
          <a:lstStyle>
            <a:lvl1pPr marL="0" indent="0" algn="l">
              <a:buNone/>
              <a:defRPr sz="1800" b="1" kern="1200" cap="all" spc="100" baseline="0">
                <a:solidFill>
                  <a:srgbClr val="238DC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Subtitle</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4"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rgbClr val="E89223"/>
                </a:solidFill>
                <a:latin typeface="+mj-lt"/>
              </a:defRPr>
            </a:lvl1pPr>
          </a:lstStyle>
          <a:p>
            <a:pPr lvl="0"/>
            <a:r>
              <a:rPr lang="en-US" dirty="0"/>
              <a:t>Subhead (One line or two)</a:t>
            </a:r>
          </a:p>
        </p:txBody>
      </p:sp>
    </p:spTree>
    <p:extLst>
      <p:ext uri="{BB962C8B-B14F-4D97-AF65-F5344CB8AC3E}">
        <p14:creationId xmlns:p14="http://schemas.microsoft.com/office/powerpoint/2010/main" val="2837035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hotos_2">
    <p:spTree>
      <p:nvGrpSpPr>
        <p:cNvPr id="1" name=""/>
        <p:cNvGrpSpPr/>
        <p:nvPr/>
      </p:nvGrpSpPr>
      <p:grpSpPr>
        <a:xfrm>
          <a:off x="0" y="0"/>
          <a:ext cx="0" cy="0"/>
          <a:chOff x="0" y="0"/>
          <a:chExt cx="0" cy="0"/>
        </a:xfrm>
      </p:grpSpPr>
      <p:pic>
        <p:nvPicPr>
          <p:cNvPr id="7" name="Picture 6"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sp>
        <p:nvSpPr>
          <p:cNvPr id="10" name="Picture Placeholder 9"/>
          <p:cNvSpPr>
            <a:spLocks noGrp="1"/>
          </p:cNvSpPr>
          <p:nvPr>
            <p:ph type="pic" sz="quarter" idx="14" hasCustomPrompt="1"/>
          </p:nvPr>
        </p:nvSpPr>
        <p:spPr>
          <a:xfrm>
            <a:off x="1140276" y="1922960"/>
            <a:ext cx="3982179"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sp>
        <p:nvSpPr>
          <p:cNvPr id="12" name="Picture Placeholder 9"/>
          <p:cNvSpPr>
            <a:spLocks noGrp="1"/>
          </p:cNvSpPr>
          <p:nvPr>
            <p:ph type="pic" sz="quarter" idx="15" hasCustomPrompt="1"/>
          </p:nvPr>
        </p:nvSpPr>
        <p:spPr>
          <a:xfrm>
            <a:off x="5689600" y="1922960"/>
            <a:ext cx="3982179"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pic>
        <p:nvPicPr>
          <p:cNvPr id="13" name="Picture 12"/>
          <p:cNvPicPr>
            <a:picLocks noChangeAspect="1"/>
          </p:cNvPicPr>
          <p:nvPr/>
        </p:nvPicPr>
        <p:blipFill>
          <a:blip r:embed="rId3"/>
          <a:stretch>
            <a:fillRect/>
          </a:stretch>
        </p:blipFill>
        <p:spPr>
          <a:xfrm>
            <a:off x="10244675" y="5036259"/>
            <a:ext cx="1486976" cy="1093596"/>
          </a:xfrm>
          <a:prstGeom prst="rect">
            <a:avLst/>
          </a:prstGeom>
        </p:spPr>
      </p:pic>
      <p:sp>
        <p:nvSpPr>
          <p:cNvPr id="15"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1754805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s-1">
    <p:spTree>
      <p:nvGrpSpPr>
        <p:cNvPr id="1" name=""/>
        <p:cNvGrpSpPr/>
        <p:nvPr/>
      </p:nvGrpSpPr>
      <p:grpSpPr>
        <a:xfrm>
          <a:off x="0" y="0"/>
          <a:ext cx="0" cy="0"/>
          <a:chOff x="0" y="0"/>
          <a:chExt cx="0" cy="0"/>
        </a:xfrm>
      </p:grpSpPr>
      <p:pic>
        <p:nvPicPr>
          <p:cNvPr id="8" name="Picture 7"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pic>
        <p:nvPicPr>
          <p:cNvPr id="7" name="Picture 6"/>
          <p:cNvPicPr>
            <a:picLocks noChangeAspect="1"/>
          </p:cNvPicPr>
          <p:nvPr/>
        </p:nvPicPr>
        <p:blipFill>
          <a:blip r:embed="rId3"/>
          <a:stretch>
            <a:fillRect/>
          </a:stretch>
        </p:blipFill>
        <p:spPr>
          <a:xfrm>
            <a:off x="10244675" y="5036259"/>
            <a:ext cx="1486976" cy="1093596"/>
          </a:xfrm>
          <a:prstGeom prst="rect">
            <a:avLst/>
          </a:prstGeom>
        </p:spPr>
      </p:pic>
      <p:sp>
        <p:nvSpPr>
          <p:cNvPr id="9" name="Picture Placeholder 9"/>
          <p:cNvSpPr>
            <a:spLocks noGrp="1"/>
          </p:cNvSpPr>
          <p:nvPr>
            <p:ph type="pic" sz="quarter" idx="14" hasCustomPrompt="1"/>
          </p:nvPr>
        </p:nvSpPr>
        <p:spPr>
          <a:xfrm>
            <a:off x="1140275" y="1922960"/>
            <a:ext cx="8531504" cy="4070297"/>
          </a:xfrm>
          <a:solidFill>
            <a:schemeClr val="bg1"/>
          </a:solidFill>
          <a:ln w="19050">
            <a:solidFill>
              <a:schemeClr val="bg1"/>
            </a:solidFill>
          </a:ln>
        </p:spPr>
        <p:txBody>
          <a:bodyPr>
            <a:normAutofit/>
          </a:bodyPr>
          <a:lstStyle>
            <a:lvl1pPr marL="0" indent="0">
              <a:buFontTx/>
              <a:buNone/>
              <a:defRPr sz="1400" baseline="0">
                <a:solidFill>
                  <a:srgbClr val="909C9C"/>
                </a:solidFill>
              </a:defRPr>
            </a:lvl1pPr>
          </a:lstStyle>
          <a:p>
            <a:r>
              <a:rPr lang="en-US" dirty="0"/>
              <a:t>Drag photo here or click icon to insert photo in placeholder</a:t>
            </a:r>
          </a:p>
        </p:txBody>
      </p:sp>
      <p:pic>
        <p:nvPicPr>
          <p:cNvPr id="11" name="Picture 10"/>
          <p:cNvPicPr>
            <a:picLocks noChangeAspect="1"/>
          </p:cNvPicPr>
          <p:nvPr/>
        </p:nvPicPr>
        <p:blipFill>
          <a:blip r:embed="rId3"/>
          <a:stretch>
            <a:fillRect/>
          </a:stretch>
        </p:blipFill>
        <p:spPr>
          <a:xfrm>
            <a:off x="10244675" y="5036259"/>
            <a:ext cx="1486976" cy="1093596"/>
          </a:xfrm>
          <a:prstGeom prst="rect">
            <a:avLst/>
          </a:prstGeom>
        </p:spPr>
      </p:pic>
      <p:sp>
        <p:nvSpPr>
          <p:cNvPr id="13" name="Text Placeholder 5"/>
          <p:cNvSpPr>
            <a:spLocks noGrp="1"/>
          </p:cNvSpPr>
          <p:nvPr>
            <p:ph type="body" sz="quarter" idx="13" hasCustomPrompt="1"/>
          </p:nvPr>
        </p:nvSpPr>
        <p:spPr>
          <a:xfrm>
            <a:off x="761232" y="726019"/>
            <a:ext cx="8544003" cy="512233"/>
          </a:xfrm>
        </p:spPr>
        <p:txBody>
          <a:bodyPr>
            <a:noAutofit/>
          </a:bodyPr>
          <a:lstStyle>
            <a:lvl1pPr marL="0" indent="0">
              <a:spcBef>
                <a:spcPts val="0"/>
              </a:spcBef>
              <a:buNone/>
              <a:defRPr sz="2400" b="1" i="0" cap="all" baseline="0">
                <a:solidFill>
                  <a:schemeClr val="bg1"/>
                </a:solidFill>
                <a:latin typeface="+mj-lt"/>
              </a:defRPr>
            </a:lvl1pPr>
          </a:lstStyle>
          <a:p>
            <a:pPr lvl="0"/>
            <a:r>
              <a:rPr lang="en-US" dirty="0"/>
              <a:t>Subhead (One line or two)</a:t>
            </a:r>
          </a:p>
        </p:txBody>
      </p:sp>
    </p:spTree>
    <p:extLst>
      <p:ext uri="{BB962C8B-B14F-4D97-AF65-F5344CB8AC3E}">
        <p14:creationId xmlns:p14="http://schemas.microsoft.com/office/powerpoint/2010/main" val="1657911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loser Page">
    <p:spTree>
      <p:nvGrpSpPr>
        <p:cNvPr id="1" name=""/>
        <p:cNvGrpSpPr/>
        <p:nvPr/>
      </p:nvGrpSpPr>
      <p:grpSpPr>
        <a:xfrm>
          <a:off x="0" y="0"/>
          <a:ext cx="0" cy="0"/>
          <a:chOff x="0" y="0"/>
          <a:chExt cx="0" cy="0"/>
        </a:xfrm>
      </p:grpSpPr>
      <p:pic>
        <p:nvPicPr>
          <p:cNvPr id="2" name="Picture 1" descr="PPT Backgrounds_NEW COLORS5.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0"/>
            <a:ext cx="12188388" cy="6858000"/>
          </a:xfrm>
          <a:prstGeom prst="rect">
            <a:avLst/>
          </a:prstGeom>
        </p:spPr>
      </p:pic>
      <p:pic>
        <p:nvPicPr>
          <p:cNvPr id="8" name="Picture 7"/>
          <p:cNvPicPr>
            <a:picLocks noChangeAspect="1"/>
          </p:cNvPicPr>
          <p:nvPr/>
        </p:nvPicPr>
        <p:blipFill>
          <a:blip r:embed="rId3"/>
          <a:stretch>
            <a:fillRect/>
          </a:stretch>
        </p:blipFill>
        <p:spPr>
          <a:xfrm>
            <a:off x="4347232" y="2137831"/>
            <a:ext cx="3516973" cy="2586555"/>
          </a:xfrm>
          <a:prstGeom prst="rect">
            <a:avLst/>
          </a:prstGeom>
        </p:spPr>
      </p:pic>
    </p:spTree>
    <p:extLst>
      <p:ext uri="{BB962C8B-B14F-4D97-AF65-F5344CB8AC3E}">
        <p14:creationId xmlns:p14="http://schemas.microsoft.com/office/powerpoint/2010/main" val="27344978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0" y="685800"/>
            <a:ext cx="10363200" cy="553998"/>
          </a:xfrm>
        </p:spPr>
        <p:txBody>
          <a:bodyPr lIns="0" tIns="0" rIns="0" bIns="0" anchor="t" anchorCtr="0">
            <a:spAutoFit/>
          </a:bodyPr>
          <a:lstStyle>
            <a:lvl1pPr>
              <a:defRPr sz="3600" b="1" i="0" baseline="0">
                <a:solidFill>
                  <a:srgbClr val="0033CC"/>
                </a:solidFill>
              </a:defRPr>
            </a:lvl1pPr>
          </a:lstStyle>
          <a:p>
            <a:r>
              <a:rPr lang="en-US" dirty="0"/>
              <a:t>Chapter number</a:t>
            </a:r>
          </a:p>
        </p:txBody>
      </p:sp>
      <p:sp>
        <p:nvSpPr>
          <p:cNvPr id="3" name="Date Placeholder 2"/>
          <p:cNvSpPr>
            <a:spLocks noGrp="1"/>
          </p:cNvSpPr>
          <p:nvPr>
            <p:ph type="dt" sz="half" idx="10"/>
          </p:nvPr>
        </p:nvSpPr>
        <p:spPr/>
        <p:txBody>
          <a:bodyPr/>
          <a:lstStyle/>
          <a:p>
            <a:pPr>
              <a:defRPr/>
            </a:pPr>
            <a:r>
              <a:rPr lang="en-US"/>
              <a:t>Murach's JavaScript (2nd Ed.), C16</a:t>
            </a:r>
          </a:p>
        </p:txBody>
      </p:sp>
      <p:sp>
        <p:nvSpPr>
          <p:cNvPr id="4" name="Footer Placeholder 3"/>
          <p:cNvSpPr>
            <a:spLocks noGrp="1"/>
          </p:cNvSpPr>
          <p:nvPr>
            <p:ph type="ftr" sz="quarter" idx="11"/>
          </p:nvPr>
        </p:nvSpPr>
        <p:spPr/>
        <p:txBody>
          <a:bodyPr/>
          <a:lstStyle/>
          <a:p>
            <a:pPr>
              <a:defRPr/>
            </a:pPr>
            <a:r>
              <a:rPr lang="en-US"/>
              <a:t>© 2015, Mike Murach &amp; Associates, Inc.</a:t>
            </a:r>
            <a:endParaRPr lang="en-US" dirty="0"/>
          </a:p>
        </p:txBody>
      </p:sp>
      <p:sp>
        <p:nvSpPr>
          <p:cNvPr id="5" name="Slide Number Placeholder 4"/>
          <p:cNvSpPr>
            <a:spLocks noGrp="1"/>
          </p:cNvSpPr>
          <p:nvPr>
            <p:ph type="sldNum" sz="quarter" idx="12"/>
          </p:nvPr>
        </p:nvSpPr>
        <p:spPr/>
        <p:txBody>
          <a:bodyPr/>
          <a:lstStyle/>
          <a:p>
            <a:pPr algn="l">
              <a:defRPr/>
            </a:pPr>
            <a:endParaRPr lang="en-US" sz="1400">
              <a:latin typeface="Times New Roman"/>
            </a:endParaRPr>
          </a:p>
          <a:p>
            <a:pPr>
              <a:defRPr/>
            </a:pPr>
            <a:r>
              <a:rPr lang="en-US"/>
              <a:t>Slide </a:t>
            </a:r>
            <a:fld id="{BF5C1183-B085-4070-A402-C03A3F977D3D}" type="slidenum">
              <a:rPr lang="en-US" smtClean="0"/>
              <a:pPr>
                <a:defRPr/>
              </a:pPr>
              <a:t>‹#›</a:t>
            </a:fld>
            <a:endParaRPr lang="en-US"/>
          </a:p>
        </p:txBody>
      </p:sp>
    </p:spTree>
    <p:extLst>
      <p:ext uri="{BB962C8B-B14F-4D97-AF65-F5344CB8AC3E}">
        <p14:creationId xmlns:p14="http://schemas.microsoft.com/office/powerpoint/2010/main" val="894591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219200" y="685800"/>
            <a:ext cx="9753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a:defRPr sz="2600" b="1" i="0" baseline="0">
                <a:solidFill>
                  <a:srgbClr val="0033CC"/>
                </a:solidFill>
              </a:defRPr>
            </a:lvl1pPr>
          </a:lstStyle>
          <a:p>
            <a:pPr lvl="0"/>
            <a:r>
              <a:rPr lang="en-US" dirty="0"/>
              <a:t>Click to edit Master title style</a:t>
            </a:r>
          </a:p>
        </p:txBody>
      </p:sp>
      <p:sp>
        <p:nvSpPr>
          <p:cNvPr id="3" name="Date Placeholder 1"/>
          <p:cNvSpPr>
            <a:spLocks noGrp="1"/>
          </p:cNvSpPr>
          <p:nvPr>
            <p:ph type="dt" sz="half" idx="10"/>
          </p:nvPr>
        </p:nvSpPr>
        <p:spPr>
          <a:ln/>
        </p:spPr>
        <p:txBody>
          <a:bodyPr/>
          <a:lstStyle>
            <a:lvl1pPr>
              <a:defRPr/>
            </a:lvl1pPr>
          </a:lstStyle>
          <a:p>
            <a:pPr>
              <a:defRPr/>
            </a:pPr>
            <a:r>
              <a:rPr lang="en-US"/>
              <a:t>Murach's JavaScript (2nd Ed.), C16</a:t>
            </a:r>
          </a:p>
        </p:txBody>
      </p:sp>
      <p:sp>
        <p:nvSpPr>
          <p:cNvPr id="4" name="Footer Placeholder 2"/>
          <p:cNvSpPr>
            <a:spLocks noGrp="1"/>
          </p:cNvSpPr>
          <p:nvPr>
            <p:ph type="ftr" sz="quarter" idx="11"/>
          </p:nvPr>
        </p:nvSpPr>
        <p:spPr>
          <a:ln/>
        </p:spPr>
        <p:txBody>
          <a:bodyPr/>
          <a:lstStyle>
            <a:lvl1pPr>
              <a:defRPr/>
            </a:lvl1pPr>
          </a:lstStyle>
          <a:p>
            <a:pPr>
              <a:defRPr/>
            </a:pPr>
            <a:r>
              <a:rPr lang="en-US"/>
              <a:t>© 2015, Mike Murach &amp; Associates, Inc.</a:t>
            </a:r>
          </a:p>
        </p:txBody>
      </p:sp>
      <p:sp>
        <p:nvSpPr>
          <p:cNvPr id="6" name="Slide Number Placeholder 3"/>
          <p:cNvSpPr>
            <a:spLocks noGrp="1"/>
          </p:cNvSpPr>
          <p:nvPr>
            <p:ph type="sldNum" sz="quarter" idx="12"/>
          </p:nvPr>
        </p:nvSpPr>
        <p:spPr>
          <a:ln/>
        </p:spPr>
        <p:txBody>
          <a:bodyPr/>
          <a:lstStyle>
            <a:lvl1pPr algn="l">
              <a:defRPr sz="1400">
                <a:latin typeface="Times New Roman"/>
              </a:defRPr>
            </a:lvl1pPr>
          </a:lstStyle>
          <a:p>
            <a:pPr>
              <a:defRPr/>
            </a:pPr>
            <a:endParaRPr lang="en-US"/>
          </a:p>
          <a:p>
            <a:pPr algn="r">
              <a:defRPr/>
            </a:pPr>
            <a:r>
              <a:rPr lang="en-US" sz="900">
                <a:latin typeface="Arial Narrow" pitchFamily="34" charset="0"/>
              </a:rPr>
              <a:t>Slide </a:t>
            </a:r>
            <a:fld id="{5ECE9829-65B2-40C6-AEFF-7C648FF56A9C}" type="slidenum">
              <a:rPr lang="en-US" sz="900">
                <a:latin typeface="Arial Narrow" pitchFamily="34" charset="0"/>
              </a:rPr>
              <a:pPr algn="r">
                <a:defRPr/>
              </a:pPr>
              <a:t>‹#›</a:t>
            </a:fld>
            <a:endParaRPr lang="en-US" sz="900">
              <a:latin typeface="Arial Narrow" pitchFamily="34" charset="0"/>
            </a:endParaRPr>
          </a:p>
        </p:txBody>
      </p:sp>
    </p:spTree>
    <p:extLst>
      <p:ext uri="{BB962C8B-B14F-4D97-AF65-F5344CB8AC3E}">
        <p14:creationId xmlns:p14="http://schemas.microsoft.com/office/powerpoint/2010/main" val="369843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
        <p:nvSpPr>
          <p:cNvPr id="11"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12" name="Text Placeholder 2"/>
          <p:cNvSpPr>
            <a:spLocks noGrp="1"/>
          </p:cNvSpPr>
          <p:nvPr>
            <p:ph type="body" idx="1"/>
          </p:nvPr>
        </p:nvSpPr>
        <p:spPr>
          <a:xfrm>
            <a:off x="609600" y="1600202"/>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a:t>Murach's JavaScript (2nd Ed.), C16</a:t>
            </a:r>
          </a:p>
        </p:txBody>
      </p:sp>
      <p:sp>
        <p:nvSpPr>
          <p:cNvPr id="14"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 2015, Mike Murach &amp; Associates, Inc.</a:t>
            </a:r>
          </a:p>
        </p:txBody>
      </p:sp>
      <p:sp>
        <p:nvSpPr>
          <p:cNvPr id="15"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defRPr/>
            </a:pPr>
            <a:endParaRPr lang="en-US" sz="1400">
              <a:latin typeface="Times New Roman"/>
            </a:endParaRPr>
          </a:p>
          <a:p>
            <a:pPr>
              <a:defRPr/>
            </a:pPr>
            <a:r>
              <a:rPr lang="en-US"/>
              <a:t>Slide </a:t>
            </a:r>
            <a:fld id="{BF5C1183-B085-4070-A402-C03A3F977D3D}" type="slidenum">
              <a:rPr lang="en-US" smtClean="0"/>
              <a:pPr>
                <a:defRPr/>
              </a:pPr>
              <a:t>‹#›</a:t>
            </a:fld>
            <a:endParaRPr lang="en-US"/>
          </a:p>
        </p:txBody>
      </p:sp>
      <p:pic>
        <p:nvPicPr>
          <p:cNvPr id="2" name="Picture 1">
            <a:extLst>
              <a:ext uri="{FF2B5EF4-FFF2-40B4-BE49-F238E27FC236}">
                <a16:creationId xmlns:a16="http://schemas.microsoft.com/office/drawing/2014/main" id="{AA39B886-8CF6-E85C-9CCB-607DCDD0D5D2}"/>
              </a:ext>
            </a:extLst>
          </p:cNvPr>
          <p:cNvPicPr>
            <a:picLocks noChangeAspect="1"/>
          </p:cNvPicPr>
          <p:nvPr userDrawn="1"/>
        </p:nvPicPr>
        <p:blipFill>
          <a:blip r:embed="rId12"/>
          <a:stretch>
            <a:fillRect/>
          </a:stretch>
        </p:blipFill>
        <p:spPr>
          <a:xfrm>
            <a:off x="10462304" y="5529669"/>
            <a:ext cx="1115232" cy="820197"/>
          </a:xfrm>
          <a:prstGeom prst="rect">
            <a:avLst/>
          </a:prstGeom>
        </p:spPr>
      </p:pic>
    </p:spTree>
    <p:extLst>
      <p:ext uri="{BB962C8B-B14F-4D97-AF65-F5344CB8AC3E}">
        <p14:creationId xmlns:p14="http://schemas.microsoft.com/office/powerpoint/2010/main" val="392652107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hf sldNum="0" hdr="0" ftr="0" dt="0"/>
  <p:txStyles>
    <p:titleStyle>
      <a:lvl1pPr algn="ctr" defTabSz="457200" rtl="0" eaLnBrk="1" latinLnBrk="0" hangingPunct="1">
        <a:spcBef>
          <a:spcPct val="0"/>
        </a:spcBef>
        <a:buNone/>
        <a:defRPr sz="3600" b="0" i="0" kern="1200" cap="all" spc="100">
          <a:solidFill>
            <a:srgbClr val="0C436A"/>
          </a:solidFill>
          <a:latin typeface="+mj-lt"/>
          <a:ea typeface="+mj-ea"/>
          <a:cs typeface="+mj-cs"/>
        </a:defRPr>
      </a:lvl1pPr>
    </p:titleStyle>
    <p:bodyStyle>
      <a:lvl1pPr marL="342900" indent="-342900" algn="l" defTabSz="457200" rtl="0" eaLnBrk="1" latinLnBrk="0" hangingPunct="1">
        <a:spcBef>
          <a:spcPct val="20000"/>
        </a:spcBef>
        <a:buClr>
          <a:srgbClr val="F7A800"/>
        </a:buClr>
        <a:buFont typeface="Arial"/>
        <a:buChar char="•"/>
        <a:defRPr sz="3000" kern="1200" spc="100">
          <a:solidFill>
            <a:srgbClr val="238DC1"/>
          </a:solidFill>
          <a:latin typeface="+mn-lt"/>
          <a:ea typeface="+mn-ea"/>
          <a:cs typeface="+mn-cs"/>
        </a:defRPr>
      </a:lvl1pPr>
      <a:lvl2pPr marL="742950" indent="-285750" algn="l" defTabSz="457200" rtl="0" eaLnBrk="1" latinLnBrk="0" hangingPunct="1">
        <a:spcBef>
          <a:spcPct val="20000"/>
        </a:spcBef>
        <a:buClr>
          <a:srgbClr val="F7A800"/>
        </a:buClr>
        <a:buFont typeface="Arial"/>
        <a:buChar char="–"/>
        <a:defRPr sz="2800" kern="1200" spc="100">
          <a:solidFill>
            <a:srgbClr val="238DC1"/>
          </a:solidFill>
          <a:latin typeface="+mn-lt"/>
          <a:ea typeface="+mn-ea"/>
          <a:cs typeface="+mn-cs"/>
        </a:defRPr>
      </a:lvl2pPr>
      <a:lvl3pPr marL="1143000" indent="-228600" algn="l" defTabSz="457200" rtl="0" eaLnBrk="1" latinLnBrk="0" hangingPunct="1">
        <a:spcBef>
          <a:spcPct val="20000"/>
        </a:spcBef>
        <a:buClr>
          <a:srgbClr val="F7A800"/>
        </a:buClr>
        <a:buFont typeface="Arial"/>
        <a:buChar char="•"/>
        <a:defRPr sz="2400" kern="1200" spc="100">
          <a:solidFill>
            <a:srgbClr val="238DC1"/>
          </a:solidFill>
          <a:latin typeface="+mn-lt"/>
          <a:ea typeface="+mn-ea"/>
          <a:cs typeface="+mn-cs"/>
        </a:defRPr>
      </a:lvl3pPr>
      <a:lvl4pPr marL="1600200" indent="-228600" algn="l" defTabSz="457200" rtl="0" eaLnBrk="1" latinLnBrk="0" hangingPunct="1">
        <a:spcBef>
          <a:spcPct val="20000"/>
        </a:spcBef>
        <a:buClr>
          <a:srgbClr val="F7A800"/>
        </a:buClr>
        <a:buFont typeface="Arial"/>
        <a:buChar char="–"/>
        <a:defRPr sz="2000" kern="1200" spc="100">
          <a:solidFill>
            <a:srgbClr val="238DC1"/>
          </a:solidFill>
          <a:latin typeface="+mn-lt"/>
          <a:ea typeface="+mn-ea"/>
          <a:cs typeface="+mn-cs"/>
        </a:defRPr>
      </a:lvl4pPr>
      <a:lvl5pPr marL="2057400" indent="-228600" algn="l" defTabSz="457200" rtl="0" eaLnBrk="1" latinLnBrk="0" hangingPunct="1">
        <a:spcBef>
          <a:spcPct val="20000"/>
        </a:spcBef>
        <a:buClr>
          <a:srgbClr val="F7A800"/>
        </a:buClr>
        <a:buFont typeface="Arial"/>
        <a:buChar char="»"/>
        <a:defRPr sz="2000" kern="1200" spc="100">
          <a:solidFill>
            <a:srgbClr val="238DC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8.emf"/></Relationships>
</file>

<file path=ppt/slides/_rels/slide2.xml.rels><?xml version="1.0" encoding="UTF-8" standalone="yes"?>
<Relationships xmlns="http://schemas.openxmlformats.org/package/2006/relationships"><Relationship Id="rId3" Type="http://schemas.openxmlformats.org/officeDocument/2006/relationships/hyperlink" Target="https://slideplayer.com/slide/12988549/" TargetMode="External"/><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09800" y="1143000"/>
            <a:ext cx="7772400" cy="677108"/>
          </a:xfrm>
        </p:spPr>
        <p:txBody>
          <a:bodyPr/>
          <a:lstStyle/>
          <a:p>
            <a:r>
              <a:rPr lang="en-US" sz="4400" dirty="0">
                <a:solidFill>
                  <a:schemeClr val="bg1"/>
                </a:solidFill>
              </a:rPr>
              <a:t>Chapter 16 – extra</a:t>
            </a:r>
          </a:p>
        </p:txBody>
      </p:sp>
      <p:graphicFrame>
        <p:nvGraphicFramePr>
          <p:cNvPr id="6" name="Object 5"/>
          <p:cNvGraphicFramePr>
            <a:graphicFrameLocks noChangeAspect="1"/>
          </p:cNvGraphicFramePr>
          <p:nvPr>
            <p:extLst>
              <p:ext uri="{D42A27DB-BD31-4B8C-83A1-F6EECF244321}">
                <p14:modId xmlns:p14="http://schemas.microsoft.com/office/powerpoint/2010/main" val="2689386353"/>
              </p:ext>
            </p:extLst>
          </p:nvPr>
        </p:nvGraphicFramePr>
        <p:xfrm>
          <a:off x="2438400" y="1604963"/>
          <a:ext cx="7234238" cy="2454275"/>
        </p:xfrm>
        <a:graphic>
          <a:graphicData uri="http://schemas.openxmlformats.org/presentationml/2006/ole">
            <mc:AlternateContent xmlns:mc="http://schemas.openxmlformats.org/markup-compatibility/2006">
              <mc:Choice xmlns:v="urn:schemas-microsoft-com:vml" Requires="v">
                <p:oleObj name="Document" r:id="rId3" imgW="7322542" imgH="2487055" progId="Word.Document.12">
                  <p:embed/>
                </p:oleObj>
              </mc:Choice>
              <mc:Fallback>
                <p:oleObj name="Document" r:id="rId3" imgW="7322542" imgH="2487055" progId="Word.Document.12">
                  <p:embed/>
                  <p:pic>
                    <p:nvPicPr>
                      <p:cNvPr id="6" name="Object 5"/>
                      <p:cNvPicPr/>
                      <p:nvPr/>
                    </p:nvPicPr>
                    <p:blipFill>
                      <a:blip r:embed="rId4"/>
                      <a:stretch>
                        <a:fillRect/>
                      </a:stretch>
                    </p:blipFill>
                    <p:spPr>
                      <a:xfrm>
                        <a:off x="2438400" y="1604963"/>
                        <a:ext cx="7234238" cy="2454275"/>
                      </a:xfrm>
                      <a:prstGeom prst="rect">
                        <a:avLst/>
                      </a:prstGeom>
                    </p:spPr>
                  </p:pic>
                </p:oleObj>
              </mc:Fallback>
            </mc:AlternateContent>
          </a:graphicData>
        </a:graphic>
      </p:graphicFrame>
    </p:spTree>
    <p:extLst>
      <p:ext uri="{BB962C8B-B14F-4D97-AF65-F5344CB8AC3E}">
        <p14:creationId xmlns:p14="http://schemas.microsoft.com/office/powerpoint/2010/main" val="1654958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CD6EBA-012A-14AA-AB52-5B72883A94EB}"/>
              </a:ext>
            </a:extLst>
          </p:cNvPr>
          <p:cNvPicPr>
            <a:picLocks noChangeAspect="1"/>
          </p:cNvPicPr>
          <p:nvPr/>
        </p:nvPicPr>
        <p:blipFill>
          <a:blip r:embed="rId2"/>
          <a:stretch>
            <a:fillRect/>
          </a:stretch>
        </p:blipFill>
        <p:spPr>
          <a:xfrm>
            <a:off x="762000" y="228600"/>
            <a:ext cx="8323944" cy="5815013"/>
          </a:xfrm>
          <a:prstGeom prst="rect">
            <a:avLst/>
          </a:prstGeom>
        </p:spPr>
      </p:pic>
      <p:sp>
        <p:nvSpPr>
          <p:cNvPr id="5" name="TextBox 4">
            <a:extLst>
              <a:ext uri="{FF2B5EF4-FFF2-40B4-BE49-F238E27FC236}">
                <a16:creationId xmlns:a16="http://schemas.microsoft.com/office/drawing/2014/main" id="{45F6540D-A58E-C9CE-79C7-358E3571A604}"/>
              </a:ext>
            </a:extLst>
          </p:cNvPr>
          <p:cNvSpPr txBox="1"/>
          <p:nvPr/>
        </p:nvSpPr>
        <p:spPr>
          <a:xfrm>
            <a:off x="1066800" y="5486400"/>
            <a:ext cx="8534400" cy="369332"/>
          </a:xfrm>
          <a:prstGeom prst="rect">
            <a:avLst/>
          </a:prstGeom>
          <a:noFill/>
        </p:spPr>
        <p:txBody>
          <a:bodyPr wrap="square" rtlCol="0">
            <a:spAutoFit/>
          </a:bodyPr>
          <a:lstStyle/>
          <a:p>
            <a:r>
              <a:rPr lang="en-US" dirty="0"/>
              <a:t>Source: </a:t>
            </a:r>
            <a:r>
              <a:rPr lang="en-US" dirty="0">
                <a:hlinkClick r:id="rId3"/>
              </a:rPr>
              <a:t>https://slideplayer.com/slide/12988549/</a:t>
            </a:r>
            <a:r>
              <a:rPr lang="en-US" dirty="0"/>
              <a:t> </a:t>
            </a:r>
          </a:p>
        </p:txBody>
      </p:sp>
    </p:spTree>
    <p:extLst>
      <p:ext uri="{BB962C8B-B14F-4D97-AF65-F5344CB8AC3E}">
        <p14:creationId xmlns:p14="http://schemas.microsoft.com/office/powerpoint/2010/main" val="1845929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95F8228-F2CF-69F9-17B8-083A0766904E}"/>
              </a:ext>
            </a:extLst>
          </p:cNvPr>
          <p:cNvPicPr>
            <a:picLocks noChangeAspect="1"/>
          </p:cNvPicPr>
          <p:nvPr/>
        </p:nvPicPr>
        <p:blipFill>
          <a:blip r:embed="rId2"/>
          <a:stretch>
            <a:fillRect/>
          </a:stretch>
        </p:blipFill>
        <p:spPr>
          <a:xfrm>
            <a:off x="533400" y="152400"/>
            <a:ext cx="8405949" cy="6172200"/>
          </a:xfrm>
          <a:prstGeom prst="rect">
            <a:avLst/>
          </a:prstGeom>
        </p:spPr>
      </p:pic>
    </p:spTree>
    <p:extLst>
      <p:ext uri="{BB962C8B-B14F-4D97-AF65-F5344CB8AC3E}">
        <p14:creationId xmlns:p14="http://schemas.microsoft.com/office/powerpoint/2010/main" val="656671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30E499-DEE1-2098-5A1B-DE919768287D}"/>
              </a:ext>
            </a:extLst>
          </p:cNvPr>
          <p:cNvPicPr>
            <a:picLocks noChangeAspect="1"/>
          </p:cNvPicPr>
          <p:nvPr/>
        </p:nvPicPr>
        <p:blipFill>
          <a:blip r:embed="rId2"/>
          <a:stretch>
            <a:fillRect/>
          </a:stretch>
        </p:blipFill>
        <p:spPr>
          <a:xfrm>
            <a:off x="685800" y="152400"/>
            <a:ext cx="8401050" cy="6135207"/>
          </a:xfrm>
          <a:prstGeom prst="rect">
            <a:avLst/>
          </a:prstGeom>
        </p:spPr>
      </p:pic>
    </p:spTree>
    <p:extLst>
      <p:ext uri="{BB962C8B-B14F-4D97-AF65-F5344CB8AC3E}">
        <p14:creationId xmlns:p14="http://schemas.microsoft.com/office/powerpoint/2010/main" val="3143179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6FACC3-B25F-F03E-CC37-3A999FA333CC}"/>
              </a:ext>
            </a:extLst>
          </p:cNvPr>
          <p:cNvPicPr>
            <a:picLocks noChangeAspect="1"/>
          </p:cNvPicPr>
          <p:nvPr/>
        </p:nvPicPr>
        <p:blipFill>
          <a:blip r:embed="rId2"/>
          <a:stretch>
            <a:fillRect/>
          </a:stretch>
        </p:blipFill>
        <p:spPr>
          <a:xfrm>
            <a:off x="609600" y="152400"/>
            <a:ext cx="8392089" cy="6324600"/>
          </a:xfrm>
          <a:prstGeom prst="rect">
            <a:avLst/>
          </a:prstGeom>
        </p:spPr>
      </p:pic>
    </p:spTree>
    <p:extLst>
      <p:ext uri="{BB962C8B-B14F-4D97-AF65-F5344CB8AC3E}">
        <p14:creationId xmlns:p14="http://schemas.microsoft.com/office/powerpoint/2010/main" val="516778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E186C6B-0BEF-78C6-255E-87338B917459}"/>
              </a:ext>
            </a:extLst>
          </p:cNvPr>
          <p:cNvPicPr>
            <a:picLocks noChangeAspect="1"/>
          </p:cNvPicPr>
          <p:nvPr/>
        </p:nvPicPr>
        <p:blipFill>
          <a:blip r:embed="rId3"/>
          <a:stretch>
            <a:fillRect/>
          </a:stretch>
        </p:blipFill>
        <p:spPr>
          <a:xfrm>
            <a:off x="685800" y="228600"/>
            <a:ext cx="8228444" cy="6019800"/>
          </a:xfrm>
          <a:prstGeom prst="rect">
            <a:avLst/>
          </a:prstGeom>
        </p:spPr>
      </p:pic>
    </p:spTree>
    <p:extLst>
      <p:ext uri="{BB962C8B-B14F-4D97-AF65-F5344CB8AC3E}">
        <p14:creationId xmlns:p14="http://schemas.microsoft.com/office/powerpoint/2010/main" val="2144616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9BE5DF-A284-3230-CCD8-EAFE2BCBD871}"/>
              </a:ext>
            </a:extLst>
          </p:cNvPr>
          <p:cNvPicPr>
            <a:picLocks noChangeAspect="1"/>
          </p:cNvPicPr>
          <p:nvPr/>
        </p:nvPicPr>
        <p:blipFill>
          <a:blip r:embed="rId2"/>
          <a:stretch>
            <a:fillRect/>
          </a:stretch>
        </p:blipFill>
        <p:spPr>
          <a:xfrm>
            <a:off x="914400" y="228600"/>
            <a:ext cx="7770124" cy="5786438"/>
          </a:xfrm>
          <a:prstGeom prst="rect">
            <a:avLst/>
          </a:prstGeom>
        </p:spPr>
      </p:pic>
    </p:spTree>
    <p:extLst>
      <p:ext uri="{BB962C8B-B14F-4D97-AF65-F5344CB8AC3E}">
        <p14:creationId xmlns:p14="http://schemas.microsoft.com/office/powerpoint/2010/main" val="933840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3C2A6-0907-018B-3012-6F31CD543ACB}"/>
              </a:ext>
            </a:extLst>
          </p:cNvPr>
          <p:cNvSpPr>
            <a:spLocks noGrp="1"/>
          </p:cNvSpPr>
          <p:nvPr>
            <p:ph type="title"/>
          </p:nvPr>
        </p:nvSpPr>
        <p:spPr>
          <a:xfrm>
            <a:off x="249803" y="381000"/>
            <a:ext cx="9753600" cy="400110"/>
          </a:xfrm>
        </p:spPr>
        <p:txBody>
          <a:bodyPr/>
          <a:lstStyle/>
          <a:p>
            <a:r>
              <a:rPr lang="en-US" dirty="0"/>
              <a:t>XML</a:t>
            </a:r>
          </a:p>
        </p:txBody>
      </p:sp>
      <p:sp>
        <p:nvSpPr>
          <p:cNvPr id="5" name="TextBox 4">
            <a:extLst>
              <a:ext uri="{FF2B5EF4-FFF2-40B4-BE49-F238E27FC236}">
                <a16:creationId xmlns:a16="http://schemas.microsoft.com/office/drawing/2014/main" id="{F8B0D5B0-B83F-0CC2-2350-983365D59144}"/>
              </a:ext>
            </a:extLst>
          </p:cNvPr>
          <p:cNvSpPr txBox="1"/>
          <p:nvPr/>
        </p:nvSpPr>
        <p:spPr>
          <a:xfrm>
            <a:off x="228600" y="1066800"/>
            <a:ext cx="9525000" cy="4801314"/>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XML stands for </a:t>
            </a:r>
            <a:r>
              <a:rPr lang="en-US" sz="1800" b="1" i="0" u="none" strike="noStrike" baseline="0" dirty="0">
                <a:solidFill>
                  <a:srgbClr val="000000"/>
                </a:solidFill>
                <a:latin typeface="Verdana" panose="020B0604030504040204" pitchFamily="34" charset="0"/>
              </a:rPr>
              <a:t>E</a:t>
            </a:r>
            <a:r>
              <a:rPr lang="en-US" sz="1800" b="0" i="0" u="none" strike="noStrike" baseline="0" dirty="0">
                <a:solidFill>
                  <a:srgbClr val="000000"/>
                </a:solidFill>
                <a:latin typeface="Verdana" panose="020B0604030504040204" pitchFamily="34" charset="0"/>
              </a:rPr>
              <a:t>xtensible </a:t>
            </a:r>
            <a:r>
              <a:rPr lang="en-US" sz="1800" b="1" i="0" u="none" strike="noStrike" baseline="0" dirty="0">
                <a:solidFill>
                  <a:srgbClr val="000000"/>
                </a:solidFill>
                <a:latin typeface="Verdana" panose="020B0604030504040204" pitchFamily="34" charset="0"/>
              </a:rPr>
              <a:t>M</a:t>
            </a:r>
            <a:r>
              <a:rPr lang="en-US" sz="1800" b="0" i="0" u="none" strike="noStrike" baseline="0" dirty="0">
                <a:solidFill>
                  <a:srgbClr val="000000"/>
                </a:solidFill>
                <a:latin typeface="Verdana" panose="020B0604030504040204" pitchFamily="34" charset="0"/>
              </a:rPr>
              <a:t>arkup </a:t>
            </a:r>
            <a:r>
              <a:rPr lang="en-US" sz="1800" b="1" i="0" u="none" strike="noStrike" baseline="0" dirty="0">
                <a:solidFill>
                  <a:srgbClr val="000000"/>
                </a:solidFill>
                <a:latin typeface="Verdana" panose="020B0604030504040204" pitchFamily="34" charset="0"/>
              </a:rPr>
              <a:t>L</a:t>
            </a:r>
            <a:r>
              <a:rPr lang="en-US" sz="1800" b="0" i="0" u="none" strike="noStrike" baseline="0" dirty="0">
                <a:solidFill>
                  <a:srgbClr val="000000"/>
                </a:solidFill>
                <a:latin typeface="Verdana" panose="020B0604030504040204" pitchFamily="34" charset="0"/>
              </a:rPr>
              <a:t>anguage. It is a text-based markup language derived from Standard Generalized Markup Language (SGML). </a:t>
            </a:r>
          </a:p>
          <a:p>
            <a:r>
              <a:rPr lang="en-US" sz="1800" b="0" i="0" u="none" strike="noStrike" baseline="0" dirty="0">
                <a:solidFill>
                  <a:srgbClr val="000000"/>
                </a:solidFill>
                <a:latin typeface="Verdana" panose="020B0604030504040204" pitchFamily="34" charset="0"/>
              </a:rPr>
              <a:t>XML tags identify the data and are used to store and organize the data, rather than specifying how to display it like HTML tags, which are used to display the data.</a:t>
            </a:r>
          </a:p>
          <a:p>
            <a:endParaRPr lang="en-US" sz="1800" b="0" i="0" u="none" strike="noStrike" baseline="0"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There are three important characteristics of XML that make it useful in a variety of systems and solutions: </a:t>
            </a:r>
          </a:p>
          <a:p>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is extensible</a:t>
            </a:r>
            <a:r>
              <a:rPr lang="en-US" sz="1800" b="0" i="0" u="none" strike="noStrike" baseline="0" dirty="0">
                <a:solidFill>
                  <a:srgbClr val="000000"/>
                </a:solidFill>
                <a:latin typeface="Verdana" panose="020B0604030504040204" pitchFamily="34" charset="0"/>
              </a:rPr>
              <a:t>: XML allows you to create your own self-descriptive tags or language, that suits your application.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carries the data, does not present it</a:t>
            </a:r>
            <a:r>
              <a:rPr lang="en-US" sz="1800" b="0" i="0" u="none" strike="noStrike" baseline="0" dirty="0">
                <a:solidFill>
                  <a:srgbClr val="000000"/>
                </a:solidFill>
                <a:latin typeface="Verdana" panose="020B0604030504040204" pitchFamily="34" charset="0"/>
              </a:rPr>
              <a:t>: XML allows you to store the data irrespective of how it will be presented. </a:t>
            </a:r>
          </a:p>
          <a:p>
            <a:pPr marL="285750" indent="-285750">
              <a:buFont typeface="Arial" panose="020B0604020202020204" pitchFamily="34" charset="0"/>
              <a:buChar char="•"/>
            </a:pPr>
            <a:endParaRPr lang="en-US"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1" i="0" u="none" strike="noStrike" baseline="0" dirty="0">
                <a:solidFill>
                  <a:srgbClr val="000000"/>
                </a:solidFill>
                <a:latin typeface="Verdana" panose="020B0604030504040204" pitchFamily="34" charset="0"/>
              </a:rPr>
              <a:t>XML is a public standard</a:t>
            </a:r>
            <a:r>
              <a:rPr lang="en-US" sz="1800" b="0" i="0" u="none" strike="noStrike" baseline="0" dirty="0">
                <a:solidFill>
                  <a:srgbClr val="000000"/>
                </a:solidFill>
                <a:latin typeface="Verdana" panose="020B0604030504040204" pitchFamily="34" charset="0"/>
              </a:rPr>
              <a:t>: XML was developed by an organization called the World Wide Web Consortium (W3C) and is available as an open standard. </a:t>
            </a:r>
          </a:p>
        </p:txBody>
      </p:sp>
    </p:spTree>
    <p:extLst>
      <p:ext uri="{BB962C8B-B14F-4D97-AF65-F5344CB8AC3E}">
        <p14:creationId xmlns:p14="http://schemas.microsoft.com/office/powerpoint/2010/main" val="1056626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9C16065-463E-91B2-E9C1-868BEAF0FA71}"/>
              </a:ext>
            </a:extLst>
          </p:cNvPr>
          <p:cNvSpPr>
            <a:spLocks noGrp="1"/>
          </p:cNvSpPr>
          <p:nvPr>
            <p:ph type="title"/>
          </p:nvPr>
        </p:nvSpPr>
        <p:spPr/>
        <p:txBody>
          <a:bodyPr/>
          <a:lstStyle/>
          <a:p>
            <a:r>
              <a:rPr lang="en-US" dirty="0"/>
              <a:t>XML</a:t>
            </a:r>
          </a:p>
        </p:txBody>
      </p:sp>
      <p:sp>
        <p:nvSpPr>
          <p:cNvPr id="5" name="TextBox 4">
            <a:extLst>
              <a:ext uri="{FF2B5EF4-FFF2-40B4-BE49-F238E27FC236}">
                <a16:creationId xmlns:a16="http://schemas.microsoft.com/office/drawing/2014/main" id="{959C91F2-C226-0133-1396-0AF23436BBB8}"/>
              </a:ext>
            </a:extLst>
          </p:cNvPr>
          <p:cNvSpPr txBox="1"/>
          <p:nvPr/>
        </p:nvSpPr>
        <p:spPr>
          <a:xfrm>
            <a:off x="1143000" y="1600200"/>
            <a:ext cx="8305800" cy="4247317"/>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work behind the scene to simplify the creation of HTML documents for large web sites.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to exchange the information between organizations and systems.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for offloading and reloading of databases.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be used to store and arrange the data, which can customize your data handling needs.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XML can easily be merged with style sheets to create almost any desired output.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Virtually, any type of data can be expressed as an XML document. </a:t>
            </a:r>
          </a:p>
        </p:txBody>
      </p:sp>
    </p:spTree>
    <p:extLst>
      <p:ext uri="{BB962C8B-B14F-4D97-AF65-F5344CB8AC3E}">
        <p14:creationId xmlns:p14="http://schemas.microsoft.com/office/powerpoint/2010/main" val="2999716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41F4AC-A0C9-115A-6783-BF0E0135CEB4}"/>
              </a:ext>
            </a:extLst>
          </p:cNvPr>
          <p:cNvSpPr>
            <a:spLocks noGrp="1"/>
          </p:cNvSpPr>
          <p:nvPr>
            <p:ph type="title"/>
          </p:nvPr>
        </p:nvSpPr>
        <p:spPr/>
        <p:txBody>
          <a:bodyPr/>
          <a:lstStyle/>
          <a:p>
            <a:r>
              <a:rPr lang="en-US" dirty="0"/>
              <a:t>XML Syntax</a:t>
            </a:r>
          </a:p>
        </p:txBody>
      </p:sp>
      <p:sp>
        <p:nvSpPr>
          <p:cNvPr id="5" name="TextBox 4">
            <a:extLst>
              <a:ext uri="{FF2B5EF4-FFF2-40B4-BE49-F238E27FC236}">
                <a16:creationId xmlns:a16="http://schemas.microsoft.com/office/drawing/2014/main" id="{8880524C-99C1-2AC1-8EE4-032C2BEB031E}"/>
              </a:ext>
            </a:extLst>
          </p:cNvPr>
          <p:cNvSpPr txBox="1"/>
          <p:nvPr/>
        </p:nvSpPr>
        <p:spPr>
          <a:xfrm>
            <a:off x="1295400" y="1447800"/>
            <a:ext cx="8227612" cy="1754326"/>
          </a:xfrm>
          <a:prstGeom prst="rect">
            <a:avLst/>
          </a:prstGeom>
          <a:noFill/>
        </p:spPr>
        <p:txBody>
          <a:bodyPr wrap="square">
            <a:spAutoFit/>
          </a:bodyPr>
          <a:lstStyle/>
          <a:p>
            <a:r>
              <a:rPr lang="en-US" sz="1800" b="0" i="0" u="none" strike="noStrike" baseline="0" dirty="0">
                <a:solidFill>
                  <a:srgbClr val="000000"/>
                </a:solidFill>
                <a:latin typeface="Consolas" panose="020B0609020204030204" pitchFamily="49" charset="0"/>
              </a:rPr>
              <a:t>&lt;?xml version="1.0"?&gt; </a:t>
            </a:r>
          </a:p>
          <a:p>
            <a:r>
              <a:rPr lang="en-US" sz="1800" b="0" i="0" u="none" strike="noStrike" baseline="0" dirty="0">
                <a:solidFill>
                  <a:srgbClr val="000000"/>
                </a:solidFill>
                <a:latin typeface="Consolas" panose="020B0609020204030204" pitchFamily="49" charset="0"/>
              </a:rPr>
              <a:t>&lt;contact-info&gt; </a:t>
            </a:r>
          </a:p>
          <a:p>
            <a:pPr lvl="1"/>
            <a:r>
              <a:rPr lang="en-US" b="0" i="0" u="none" strike="noStrike" baseline="0" dirty="0">
                <a:solidFill>
                  <a:srgbClr val="000000"/>
                </a:solidFill>
                <a:latin typeface="Consolas" panose="020B0609020204030204" pitchFamily="49" charset="0"/>
              </a:rPr>
              <a:t>&lt;name&gt;</a:t>
            </a:r>
            <a:r>
              <a:rPr lang="en-US" dirty="0">
                <a:solidFill>
                  <a:srgbClr val="000000"/>
                </a:solidFill>
                <a:latin typeface="Consolas" panose="020B0609020204030204" pitchFamily="49" charset="0"/>
              </a:rPr>
              <a:t>Jennifer</a:t>
            </a:r>
            <a:r>
              <a:rPr lang="en-US" b="0" i="0" u="none" strike="noStrike" baseline="0" dirty="0">
                <a:solidFill>
                  <a:srgbClr val="000000"/>
                </a:solidFill>
                <a:latin typeface="Consolas" panose="020B0609020204030204" pitchFamily="49" charset="0"/>
              </a:rPr>
              <a:t> Doe&lt;/name&gt; </a:t>
            </a:r>
          </a:p>
          <a:p>
            <a:pPr lvl="1"/>
            <a:r>
              <a:rPr lang="en-US" b="0" i="0" u="none" strike="noStrike" baseline="0" dirty="0">
                <a:solidFill>
                  <a:srgbClr val="000000"/>
                </a:solidFill>
                <a:latin typeface="Consolas" panose="020B0609020204030204" pitchFamily="49" charset="0"/>
              </a:rPr>
              <a:t>&lt;company&gt;BCBS&lt;/company&gt; </a:t>
            </a:r>
          </a:p>
          <a:p>
            <a:pPr lvl="1"/>
            <a:r>
              <a:rPr lang="en-US" b="0" i="0" u="none" strike="noStrike" baseline="0" dirty="0">
                <a:solidFill>
                  <a:srgbClr val="000000"/>
                </a:solidFill>
                <a:latin typeface="Consolas" panose="020B0609020204030204" pitchFamily="49" charset="0"/>
              </a:rPr>
              <a:t>&lt;phone&gt;(011)123-4567&lt;/phone&gt; </a:t>
            </a:r>
          </a:p>
          <a:p>
            <a:r>
              <a:rPr lang="en-US" sz="1800" b="0" i="0" u="none" strike="noStrike" baseline="0" dirty="0">
                <a:solidFill>
                  <a:srgbClr val="000000"/>
                </a:solidFill>
                <a:latin typeface="Consolas" panose="020B0609020204030204" pitchFamily="49" charset="0"/>
              </a:rPr>
              <a:t>&lt;/contact-info&gt;</a:t>
            </a:r>
            <a:endParaRPr lang="en-US" dirty="0"/>
          </a:p>
        </p:txBody>
      </p:sp>
      <p:sp>
        <p:nvSpPr>
          <p:cNvPr id="8" name="TextBox 7">
            <a:extLst>
              <a:ext uri="{FF2B5EF4-FFF2-40B4-BE49-F238E27FC236}">
                <a16:creationId xmlns:a16="http://schemas.microsoft.com/office/drawing/2014/main" id="{2066ACE9-FF5D-E286-65E3-BE6853713B69}"/>
              </a:ext>
            </a:extLst>
          </p:cNvPr>
          <p:cNvSpPr txBox="1"/>
          <p:nvPr/>
        </p:nvSpPr>
        <p:spPr>
          <a:xfrm>
            <a:off x="1066800" y="3581400"/>
            <a:ext cx="8306462" cy="1754326"/>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You can notice, there are two kinds of information in the above example: </a:t>
            </a:r>
          </a:p>
          <a:p>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Markup, like &lt;contact-info&gt; </a:t>
            </a:r>
          </a:p>
          <a:p>
            <a:pPr marL="285750" indent="-285750">
              <a:buFont typeface="Arial" panose="020B0604020202020204" pitchFamily="34" charset="0"/>
              <a:buChar char="•"/>
            </a:pPr>
            <a:endParaRPr lang="en-US" sz="1800" b="0" i="0" u="none" strike="noStrike" baseline="0" dirty="0">
              <a:solidFill>
                <a:srgbClr val="000000"/>
              </a:solidFill>
              <a:latin typeface="Verdana" panose="020B060403050404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The text, or the character data, BCBS and (011)123-4567 </a:t>
            </a:r>
          </a:p>
        </p:txBody>
      </p:sp>
    </p:spTree>
    <p:extLst>
      <p:ext uri="{BB962C8B-B14F-4D97-AF65-F5344CB8AC3E}">
        <p14:creationId xmlns:p14="http://schemas.microsoft.com/office/powerpoint/2010/main" val="1293790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5CC948-E1AB-A732-9004-AF48DAE74F4E}"/>
              </a:ext>
            </a:extLst>
          </p:cNvPr>
          <p:cNvSpPr>
            <a:spLocks noGrp="1"/>
          </p:cNvSpPr>
          <p:nvPr>
            <p:ph type="title"/>
          </p:nvPr>
        </p:nvSpPr>
        <p:spPr>
          <a:xfrm>
            <a:off x="1219200" y="685800"/>
            <a:ext cx="9753600" cy="400110"/>
          </a:xfrm>
        </p:spPr>
        <p:txBody>
          <a:bodyPr/>
          <a:lstStyle/>
          <a:p>
            <a:r>
              <a:rPr lang="en-US" dirty="0"/>
              <a:t>Syntax Rules for XML Declaration</a:t>
            </a:r>
          </a:p>
        </p:txBody>
      </p:sp>
      <p:sp>
        <p:nvSpPr>
          <p:cNvPr id="5" name="TextBox 4">
            <a:extLst>
              <a:ext uri="{FF2B5EF4-FFF2-40B4-BE49-F238E27FC236}">
                <a16:creationId xmlns:a16="http://schemas.microsoft.com/office/drawing/2014/main" id="{CFB8145E-4B47-19B4-459E-C0ED73E2040D}"/>
              </a:ext>
            </a:extLst>
          </p:cNvPr>
          <p:cNvSpPr txBox="1"/>
          <p:nvPr/>
        </p:nvSpPr>
        <p:spPr>
          <a:xfrm>
            <a:off x="1066800" y="1570672"/>
            <a:ext cx="8534400" cy="1477328"/>
          </a:xfrm>
          <a:prstGeom prst="rect">
            <a:avLst/>
          </a:prstGeom>
          <a:noFill/>
        </p:spPr>
        <p:txBody>
          <a:bodyPr wrap="square">
            <a:spAutoFit/>
          </a:bodyPr>
          <a:lstStyle/>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The XML declaration is case sensitive and must begin with "</a:t>
            </a:r>
            <a:r>
              <a:rPr lang="en-US" sz="1800" b="1" i="0" u="none" strike="noStrike" baseline="0" dirty="0">
                <a:solidFill>
                  <a:srgbClr val="000000"/>
                </a:solidFill>
                <a:latin typeface="Verdana" panose="020B0604030504040204" pitchFamily="34" charset="0"/>
              </a:rPr>
              <a:t>&lt;?xml&gt;</a:t>
            </a:r>
            <a:r>
              <a:rPr lang="en-US" sz="1800" b="0" i="0" u="none" strike="noStrike" baseline="0" dirty="0">
                <a:solidFill>
                  <a:srgbClr val="000000"/>
                </a:solidFill>
                <a:latin typeface="Verdana" panose="020B0604030504040204" pitchFamily="34" charset="0"/>
              </a:rPr>
              <a:t>" where "</a:t>
            </a:r>
            <a:r>
              <a:rPr lang="en-US" sz="1800" b="1" i="0" u="none" strike="noStrike" baseline="0" dirty="0">
                <a:solidFill>
                  <a:srgbClr val="000000"/>
                </a:solidFill>
                <a:latin typeface="Verdana" panose="020B0604030504040204" pitchFamily="34" charset="0"/>
              </a:rPr>
              <a:t>xml</a:t>
            </a:r>
            <a:r>
              <a:rPr lang="en-US" sz="1800" b="0" i="0" u="none" strike="noStrike" baseline="0" dirty="0">
                <a:solidFill>
                  <a:srgbClr val="000000"/>
                </a:solidFill>
                <a:latin typeface="Verdana" panose="020B0604030504040204" pitchFamily="34" charset="0"/>
              </a:rPr>
              <a:t>" is written in lower-case. </a:t>
            </a:r>
            <a:endParaRPr lang="en-US" sz="1800" b="0" i="0" u="none" strike="noStrike" baseline="0" dirty="0">
              <a:solidFill>
                <a:srgbClr val="000000"/>
              </a:solidFill>
              <a:latin typeface="Arial" panose="020B0604020202020204" pitchFamily="34" charset="0"/>
            </a:endParaRPr>
          </a:p>
          <a:p>
            <a:pPr marL="285750" indent="-285750">
              <a:buFont typeface="Arial" panose="020B0604020202020204" pitchFamily="34" charset="0"/>
              <a:buChar char="•"/>
            </a:pPr>
            <a:endParaRPr lang="en-US" sz="1800" b="0" i="0" u="none" strike="noStrike" baseline="0" dirty="0">
              <a:solidFill>
                <a:srgbClr val="000000"/>
              </a:solidFill>
              <a:latin typeface="Arial" panose="020B0604020202020204" pitchFamily="34" charset="0"/>
            </a:endParaRPr>
          </a:p>
          <a:p>
            <a:pPr marL="285750" indent="-285750">
              <a:buFont typeface="Arial" panose="020B0604020202020204" pitchFamily="34" charset="0"/>
              <a:buChar char="•"/>
            </a:pPr>
            <a:r>
              <a:rPr lang="en-US" sz="1800" b="0" i="0" u="none" strike="noStrike" baseline="0" dirty="0">
                <a:solidFill>
                  <a:srgbClr val="000000"/>
                </a:solidFill>
                <a:latin typeface="Verdana" panose="020B0604030504040204" pitchFamily="34" charset="0"/>
              </a:rPr>
              <a:t>If the document contains XML declaration, then it strictly needs to be the first statement of the XML document. </a:t>
            </a:r>
            <a:endParaRPr lang="en-US" sz="1800" b="0" i="0" u="none" strike="noStrike" baseline="0" dirty="0">
              <a:solidFill>
                <a:srgbClr val="000000"/>
              </a:solidFill>
              <a:latin typeface="Arial" panose="020B0604020202020204" pitchFamily="34" charset="0"/>
            </a:endParaRPr>
          </a:p>
        </p:txBody>
      </p:sp>
    </p:spTree>
    <p:extLst>
      <p:ext uri="{BB962C8B-B14F-4D97-AF65-F5344CB8AC3E}">
        <p14:creationId xmlns:p14="http://schemas.microsoft.com/office/powerpoint/2010/main" val="14056711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AABD0C-A4EE-2E9C-F210-3B5E13C6C47F}"/>
              </a:ext>
            </a:extLst>
          </p:cNvPr>
          <p:cNvSpPr>
            <a:spLocks noGrp="1"/>
          </p:cNvSpPr>
          <p:nvPr>
            <p:ph type="title"/>
          </p:nvPr>
        </p:nvSpPr>
        <p:spPr/>
        <p:txBody>
          <a:bodyPr/>
          <a:lstStyle/>
          <a:p>
            <a:r>
              <a:rPr lang="en-US" dirty="0"/>
              <a:t>Syntax for tags and elements (XHTML Rules)</a:t>
            </a:r>
          </a:p>
        </p:txBody>
      </p:sp>
      <p:sp>
        <p:nvSpPr>
          <p:cNvPr id="7" name="TextBox 6">
            <a:extLst>
              <a:ext uri="{FF2B5EF4-FFF2-40B4-BE49-F238E27FC236}">
                <a16:creationId xmlns:a16="http://schemas.microsoft.com/office/drawing/2014/main" id="{EF63D73C-AFEE-4A2B-48A7-54F7AA69FB25}"/>
              </a:ext>
            </a:extLst>
          </p:cNvPr>
          <p:cNvSpPr txBox="1"/>
          <p:nvPr/>
        </p:nvSpPr>
        <p:spPr>
          <a:xfrm>
            <a:off x="1219200" y="1676400"/>
            <a:ext cx="85344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Elements must be container elements or empty.</a:t>
            </a:r>
          </a:p>
          <a:p>
            <a:pPr marL="285750" indent="-285750">
              <a:buFont typeface="Arial" panose="020B0604020202020204" pitchFamily="34" charset="0"/>
              <a:buChar char="•"/>
            </a:pPr>
            <a:endParaRPr lang="en-US" dirty="0"/>
          </a:p>
          <a:p>
            <a:pPr lvl="1"/>
            <a:r>
              <a:rPr lang="en-US" dirty="0"/>
              <a:t>	</a:t>
            </a:r>
            <a:r>
              <a:rPr lang="en-US" sz="1600" dirty="0">
                <a:latin typeface="Consolas" panose="020B0609020204030204" pitchFamily="49" charset="0"/>
              </a:rPr>
              <a:t>&lt;element&gt; … &lt;/element&gt;</a:t>
            </a:r>
          </a:p>
          <a:p>
            <a:pPr lvl="1"/>
            <a:r>
              <a:rPr lang="en-US" sz="1600" dirty="0">
                <a:latin typeface="Consolas" panose="020B0609020204030204" pitchFamily="49" charset="0"/>
              </a:rPr>
              <a:t>	&lt;element/&gt;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Nested elements are last to open, first to close.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XML document may only have one root element.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Elements are case sensitive.</a:t>
            </a:r>
          </a:p>
          <a:p>
            <a:r>
              <a:rPr lang="en-US" dirty="0"/>
              <a:t>		</a:t>
            </a:r>
          </a:p>
          <a:p>
            <a:r>
              <a:rPr lang="en-US" dirty="0"/>
              <a:t>		</a:t>
            </a:r>
            <a:r>
              <a:rPr lang="en-US" sz="1600" dirty="0">
                <a:latin typeface="Consolas" panose="020B0609020204030204" pitchFamily="49" charset="0"/>
              </a:rPr>
              <a:t>&lt;name&gt; … &lt;/Name&gt;  </a:t>
            </a:r>
            <a:r>
              <a:rPr lang="en-US" sz="1600" dirty="0">
                <a:latin typeface="Consolas" panose="020B0609020204030204" pitchFamily="49" charset="0"/>
                <a:sym typeface="Wingdings" panose="05000000000000000000" pitchFamily="2" charset="2"/>
              </a:rPr>
              <a:t> Incorrect Syntax</a:t>
            </a:r>
            <a:endParaRPr lang="en-US" sz="1600" dirty="0">
              <a:latin typeface="Consolas" panose="020B0609020204030204" pitchFamily="49" charset="0"/>
            </a:endParaRPr>
          </a:p>
        </p:txBody>
      </p:sp>
    </p:spTree>
    <p:extLst>
      <p:ext uri="{BB962C8B-B14F-4D97-AF65-F5344CB8AC3E}">
        <p14:creationId xmlns:p14="http://schemas.microsoft.com/office/powerpoint/2010/main" val="3239189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0DC78A-E0DA-42F3-46DF-F3F70959003E}"/>
              </a:ext>
            </a:extLst>
          </p:cNvPr>
          <p:cNvSpPr>
            <a:spLocks noGrp="1"/>
          </p:cNvSpPr>
          <p:nvPr>
            <p:ph type="title"/>
          </p:nvPr>
        </p:nvSpPr>
        <p:spPr>
          <a:xfrm>
            <a:off x="457200" y="381000"/>
            <a:ext cx="9753600" cy="400110"/>
          </a:xfrm>
        </p:spPr>
        <p:txBody>
          <a:bodyPr/>
          <a:lstStyle/>
          <a:p>
            <a:r>
              <a:rPr lang="en-US" dirty="0"/>
              <a:t>XML Text</a:t>
            </a:r>
          </a:p>
        </p:txBody>
      </p:sp>
      <p:sp>
        <p:nvSpPr>
          <p:cNvPr id="5" name="TextBox 4">
            <a:extLst>
              <a:ext uri="{FF2B5EF4-FFF2-40B4-BE49-F238E27FC236}">
                <a16:creationId xmlns:a16="http://schemas.microsoft.com/office/drawing/2014/main" id="{AE18B8AA-AFC9-2FBE-AA5B-6E78A3F50C2E}"/>
              </a:ext>
            </a:extLst>
          </p:cNvPr>
          <p:cNvSpPr txBox="1"/>
          <p:nvPr/>
        </p:nvSpPr>
        <p:spPr>
          <a:xfrm>
            <a:off x="381000" y="887856"/>
            <a:ext cx="9677400" cy="5909310"/>
          </a:xfrm>
          <a:prstGeom prst="rect">
            <a:avLst/>
          </a:prstGeom>
          <a:noFill/>
        </p:spPr>
        <p:txBody>
          <a:bodyPr wrap="square">
            <a:spAutoFit/>
          </a:bodyPr>
          <a:lstStyle/>
          <a:p>
            <a:r>
              <a:rPr lang="en-US" sz="1800" b="0" i="0" u="none" strike="noStrike" baseline="0" dirty="0">
                <a:solidFill>
                  <a:srgbClr val="000000"/>
                </a:solidFill>
                <a:latin typeface="Verdana" panose="020B0604030504040204" pitchFamily="34" charset="0"/>
              </a:rPr>
              <a:t>The names of XML-elements and XML-attributes are case-sensitive, which means the name of start and end elements need to be written in the same case. To avoid character encoding problems, all XML files should be saved as Unicode UTF-8 or UTF-16 files. </a:t>
            </a:r>
          </a:p>
          <a:p>
            <a:endParaRPr lang="en-US" dirty="0">
              <a:solidFill>
                <a:srgbClr val="000000"/>
              </a:solidFill>
              <a:latin typeface="Verdana" panose="020B0604030504040204" pitchFamily="34" charset="0"/>
            </a:endParaRPr>
          </a:p>
          <a:p>
            <a:endParaRPr lang="en-US" sz="1800" b="0" i="0" u="none" strike="noStrike" baseline="0"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Whitespace characters like blanks, tabs and line-breaks between XML-elements and between the XML-attributes will be ignored.</a:t>
            </a:r>
          </a:p>
          <a:p>
            <a:endParaRPr lang="en-US" dirty="0">
              <a:solidFill>
                <a:srgbClr val="000000"/>
              </a:solidFill>
              <a:latin typeface="Verdana" panose="020B0604030504040204" pitchFamily="34" charset="0"/>
            </a:endParaRPr>
          </a:p>
          <a:p>
            <a:r>
              <a:rPr lang="en-US" sz="1800" b="0" i="0" u="none" strike="noStrike" baseline="0" dirty="0">
                <a:solidFill>
                  <a:srgbClr val="000000"/>
                </a:solidFill>
                <a:latin typeface="Verdana" panose="020B0604030504040204" pitchFamily="34" charset="0"/>
              </a:rPr>
              <a:t> </a:t>
            </a:r>
          </a:p>
          <a:p>
            <a:r>
              <a:rPr lang="en-US" sz="1800" b="0" i="0" u="none" strike="noStrike" baseline="0" dirty="0">
                <a:solidFill>
                  <a:srgbClr val="000000"/>
                </a:solidFill>
                <a:latin typeface="Verdana" panose="020B0604030504040204" pitchFamily="34" charset="0"/>
              </a:rPr>
              <a:t>Some characters are reserved by the XML syntax itself. Hence, they cannot be used directly. To use them, some replacement-entities are used, which are listed below: </a:t>
            </a:r>
          </a:p>
          <a:p>
            <a:endParaRPr lang="en-US" sz="1800" b="0" i="0" u="none" strike="noStrike" baseline="0" dirty="0">
              <a:solidFill>
                <a:srgbClr val="000000"/>
              </a:solidFill>
              <a:latin typeface="Verdana" panose="020B0604030504040204" pitchFamily="34" charset="0"/>
            </a:endParaRPr>
          </a:p>
          <a:p>
            <a:r>
              <a:rPr lang="en-US" sz="1800" b="1" i="0" u="none" strike="noStrike" baseline="0" dirty="0">
                <a:solidFill>
                  <a:srgbClr val="303030"/>
                </a:solidFill>
                <a:latin typeface="Verdana" panose="020B0604030504040204" pitchFamily="34" charset="0"/>
              </a:rPr>
              <a:t>Not Allowed Character </a:t>
            </a:r>
            <a:r>
              <a:rPr lang="en-US" sz="1800" b="0" i="0" u="none" strike="noStrike" baseline="0" dirty="0">
                <a:solidFill>
                  <a:srgbClr val="303030"/>
                </a:solidFill>
                <a:latin typeface="Verdana" panose="020B0604030504040204" pitchFamily="34" charset="0"/>
              </a:rPr>
              <a:t>	</a:t>
            </a:r>
            <a:r>
              <a:rPr lang="en-US" sz="1800" b="1" i="0" u="none" strike="noStrike" baseline="0" dirty="0">
                <a:solidFill>
                  <a:srgbClr val="303030"/>
                </a:solidFill>
                <a:latin typeface="Verdana" panose="020B0604030504040204" pitchFamily="34" charset="0"/>
              </a:rPr>
              <a:t>Replacement Entity </a:t>
            </a:r>
            <a:r>
              <a:rPr lang="en-US" sz="1800" b="0" i="0" u="none" strike="noStrike" baseline="0" dirty="0">
                <a:solidFill>
                  <a:srgbClr val="303030"/>
                </a:solidFill>
                <a:latin typeface="Verdana" panose="020B0604030504040204" pitchFamily="34" charset="0"/>
              </a:rPr>
              <a:t>	</a:t>
            </a:r>
            <a:r>
              <a:rPr lang="en-US" sz="1800" b="1" i="0" u="none" strike="noStrike" baseline="0" dirty="0">
                <a:solidFill>
                  <a:srgbClr val="303030"/>
                </a:solidFill>
                <a:latin typeface="Verdana" panose="020B0604030504040204" pitchFamily="34" charset="0"/>
              </a:rPr>
              <a:t>Character Description </a:t>
            </a:r>
            <a:r>
              <a:rPr lang="en-US" sz="1800" b="0" i="0" u="none" strike="noStrike" baseline="0" dirty="0">
                <a:solidFill>
                  <a:srgbClr val="303030"/>
                </a:solidFill>
                <a:latin typeface="Verdana" panose="020B0604030504040204" pitchFamily="34" charset="0"/>
              </a:rPr>
              <a:t>	</a:t>
            </a:r>
          </a:p>
          <a:p>
            <a:r>
              <a:rPr lang="en-US" sz="1800" b="1" i="0" u="none" strike="noStrike" baseline="0" dirty="0">
                <a:solidFill>
                  <a:srgbClr val="303030"/>
                </a:solidFill>
                <a:latin typeface="Verdana" panose="020B0604030504040204" pitchFamily="34" charset="0"/>
              </a:rPr>
              <a:t>			&lt;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lt</a:t>
            </a:r>
            <a:r>
              <a:rPr lang="en-US" sz="1800" b="0" i="0" u="none" strike="noStrike" baseline="0" dirty="0">
                <a:solidFill>
                  <a:srgbClr val="303030"/>
                </a:solidFill>
                <a:latin typeface="Verdana" panose="020B0604030504040204" pitchFamily="34" charset="0"/>
              </a:rPr>
              <a:t>; 					less than 	</a:t>
            </a:r>
          </a:p>
          <a:p>
            <a:r>
              <a:rPr lang="en-US" sz="1800" b="1" i="0" u="none" strike="noStrike" baseline="0" dirty="0">
                <a:solidFill>
                  <a:srgbClr val="303030"/>
                </a:solidFill>
                <a:latin typeface="Verdana" panose="020B0604030504040204" pitchFamily="34" charset="0"/>
              </a:rPr>
              <a:t>			&gt;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gt</a:t>
            </a:r>
            <a:r>
              <a:rPr lang="en-US" sz="1800" b="0" i="0" u="none" strike="noStrike" baseline="0" dirty="0">
                <a:solidFill>
                  <a:srgbClr val="303030"/>
                </a:solidFill>
                <a:latin typeface="Verdana" panose="020B0604030504040204" pitchFamily="34" charset="0"/>
              </a:rPr>
              <a:t>; 					greater than 	</a:t>
            </a:r>
          </a:p>
          <a:p>
            <a:r>
              <a:rPr lang="en-US" sz="1800" b="1" i="0" u="none" strike="noStrike" baseline="0" dirty="0">
                <a:solidFill>
                  <a:srgbClr val="303030"/>
                </a:solidFill>
                <a:latin typeface="Verdana" panose="020B0604030504040204" pitchFamily="34" charset="0"/>
              </a:rPr>
              <a:t>			&amp; </a:t>
            </a:r>
            <a:r>
              <a:rPr lang="en-US" sz="1800" b="0" i="0" u="none" strike="noStrike" baseline="0" dirty="0">
                <a:solidFill>
                  <a:srgbClr val="303030"/>
                </a:solidFill>
                <a:latin typeface="Verdana" panose="020B0604030504040204" pitchFamily="34" charset="0"/>
              </a:rPr>
              <a:t>						&amp;amp; 					ampersand 	</a:t>
            </a:r>
          </a:p>
          <a:p>
            <a:r>
              <a:rPr lang="en-US" sz="1800" b="1" i="0" u="none" strike="noStrike" baseline="0" dirty="0">
                <a:solidFill>
                  <a:srgbClr val="303030"/>
                </a:solidFill>
                <a:latin typeface="Verdana" panose="020B0604030504040204" pitchFamily="34" charset="0"/>
              </a:rPr>
              <a:t>			' </a:t>
            </a:r>
            <a:r>
              <a:rPr lang="en-US" sz="1800" b="0" i="0" u="none" strike="noStrike" baseline="0" dirty="0">
                <a:solidFill>
                  <a:srgbClr val="303030"/>
                </a:solidFill>
                <a:latin typeface="Verdana" panose="020B0604030504040204" pitchFamily="34" charset="0"/>
              </a:rPr>
              <a:t>						&amp;apos; 					apostrophe 	</a:t>
            </a:r>
          </a:p>
          <a:p>
            <a:r>
              <a:rPr lang="en-US" sz="1800" b="1" i="0" u="none" strike="noStrike" baseline="0" dirty="0">
                <a:solidFill>
                  <a:srgbClr val="303030"/>
                </a:solidFill>
                <a:latin typeface="Verdana" panose="020B0604030504040204" pitchFamily="34" charset="0"/>
              </a:rPr>
              <a:t>			" </a:t>
            </a:r>
            <a:r>
              <a:rPr lang="en-US" sz="1800" b="0" i="0" u="none" strike="noStrike" baseline="0" dirty="0">
                <a:solidFill>
                  <a:srgbClr val="303030"/>
                </a:solidFill>
                <a:latin typeface="Verdana" panose="020B0604030504040204" pitchFamily="34" charset="0"/>
              </a:rPr>
              <a:t>						&amp;</a:t>
            </a:r>
            <a:r>
              <a:rPr lang="en-US" sz="1800" b="0" i="0" u="none" strike="noStrike" baseline="0" dirty="0" err="1">
                <a:solidFill>
                  <a:srgbClr val="303030"/>
                </a:solidFill>
                <a:latin typeface="Verdana" panose="020B0604030504040204" pitchFamily="34" charset="0"/>
              </a:rPr>
              <a:t>quot</a:t>
            </a:r>
            <a:r>
              <a:rPr lang="en-US" sz="1800" b="0" i="0" u="none" strike="noStrike" baseline="0" dirty="0">
                <a:solidFill>
                  <a:srgbClr val="303030"/>
                </a:solidFill>
                <a:latin typeface="Verdana" panose="020B0604030504040204" pitchFamily="34" charset="0"/>
              </a:rPr>
              <a:t>; 					quotation mark 	</a:t>
            </a:r>
          </a:p>
          <a:p>
            <a:endParaRPr lang="en-US" sz="1800" b="0" i="0" u="none" strike="noStrike" baseline="0" dirty="0">
              <a:solidFill>
                <a:srgbClr val="303030"/>
              </a:solidFill>
              <a:latin typeface="Verdana" panose="020B0604030504040204" pitchFamily="34" charset="0"/>
            </a:endParaRPr>
          </a:p>
        </p:txBody>
      </p:sp>
    </p:spTree>
    <p:extLst>
      <p:ext uri="{BB962C8B-B14F-4D97-AF65-F5344CB8AC3E}">
        <p14:creationId xmlns:p14="http://schemas.microsoft.com/office/powerpoint/2010/main" val="2721604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77B3-A700-6D5E-EBE6-EF57B21ADC8B}"/>
              </a:ext>
            </a:extLst>
          </p:cNvPr>
          <p:cNvSpPr>
            <a:spLocks noGrp="1"/>
          </p:cNvSpPr>
          <p:nvPr>
            <p:ph type="title"/>
          </p:nvPr>
        </p:nvSpPr>
        <p:spPr>
          <a:xfrm>
            <a:off x="1219200" y="1352491"/>
            <a:ext cx="9753600" cy="2000548"/>
          </a:xfrm>
        </p:spPr>
        <p:txBody>
          <a:bodyPr/>
          <a:lstStyle/>
          <a:p>
            <a:r>
              <a:rPr lang="en-US" dirty="0"/>
              <a:t>Open each type of file </a:t>
            </a:r>
            <a:br>
              <a:rPr lang="en-US" dirty="0"/>
            </a:br>
            <a:br>
              <a:rPr lang="en-US" dirty="0"/>
            </a:br>
            <a:r>
              <a:rPr lang="en-US" dirty="0"/>
              <a:t>then parse thru JSON and XML</a:t>
            </a:r>
            <a:br>
              <a:rPr lang="en-US" dirty="0"/>
            </a:br>
            <a:br>
              <a:rPr lang="en-US" dirty="0"/>
            </a:br>
            <a:r>
              <a:rPr lang="en-US" dirty="0"/>
              <a:t>Use solely in the final project</a:t>
            </a:r>
          </a:p>
        </p:txBody>
      </p:sp>
    </p:spTree>
    <p:extLst>
      <p:ext uri="{BB962C8B-B14F-4D97-AF65-F5344CB8AC3E}">
        <p14:creationId xmlns:p14="http://schemas.microsoft.com/office/powerpoint/2010/main" val="2885509246"/>
      </p:ext>
    </p:extLst>
  </p:cSld>
  <p:clrMapOvr>
    <a:masterClrMapping/>
  </p:clrMapOvr>
</p:sld>
</file>

<file path=ppt/theme/theme1.xml><?xml version="1.0" encoding="utf-8"?>
<a:theme xmlns:a="http://schemas.openxmlformats.org/drawingml/2006/main" name="Theme1">
  <a:themeElements>
    <a:clrScheme name="MTC Colors 2018">
      <a:dk1>
        <a:srgbClr val="142C45"/>
      </a:dk1>
      <a:lt1>
        <a:sysClr val="window" lastClr="FFFFFF"/>
      </a:lt1>
      <a:dk2>
        <a:srgbClr val="142C45"/>
      </a:dk2>
      <a:lt2>
        <a:srgbClr val="FFFFFE"/>
      </a:lt2>
      <a:accent1>
        <a:srgbClr val="192F5E"/>
      </a:accent1>
      <a:accent2>
        <a:srgbClr val="236E9E"/>
      </a:accent2>
      <a:accent3>
        <a:srgbClr val="F7A800"/>
      </a:accent3>
      <a:accent4>
        <a:srgbClr val="E75300"/>
      </a:accent4>
      <a:accent5>
        <a:srgbClr val="80BF1F"/>
      </a:accent5>
      <a:accent6>
        <a:srgbClr val="007166"/>
      </a:accent6>
      <a:hlink>
        <a:srgbClr val="879392"/>
      </a:hlink>
      <a:folHlink>
        <a:srgbClr val="BFC7C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1" id="{0313CD60-EA42-4A94-BBFB-17F9DF7D6425}" vid="{7B87027D-15CC-4AF2-9035-E41911AE03E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23340</TotalTime>
  <Words>678</Words>
  <Application>Microsoft Office PowerPoint</Application>
  <PresentationFormat>Widescreen</PresentationFormat>
  <Paragraphs>72</Paragraphs>
  <Slides>14</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2" baseType="lpstr">
      <vt:lpstr>Arial</vt:lpstr>
      <vt:lpstr>Arial Narrow</vt:lpstr>
      <vt:lpstr>Calibri</vt:lpstr>
      <vt:lpstr>Consolas</vt:lpstr>
      <vt:lpstr>Times New Roman</vt:lpstr>
      <vt:lpstr>Verdana</vt:lpstr>
      <vt:lpstr>Theme1</vt:lpstr>
      <vt:lpstr>Document</vt:lpstr>
      <vt:lpstr>Chapter 16 – extra</vt:lpstr>
      <vt:lpstr>PowerPoint Presentation</vt:lpstr>
      <vt:lpstr>PowerPoint Presentation</vt:lpstr>
      <vt:lpstr>PowerPoint Presentation</vt:lpstr>
      <vt:lpstr>PowerPoint Presentation</vt:lpstr>
      <vt:lpstr>PowerPoint Presentation</vt:lpstr>
      <vt:lpstr>PowerPoint Presentation</vt:lpstr>
      <vt:lpstr>XML</vt:lpstr>
      <vt:lpstr>XML</vt:lpstr>
      <vt:lpstr>XML Syntax</vt:lpstr>
      <vt:lpstr>Syntax Rules for XML Declaration</vt:lpstr>
      <vt:lpstr>Syntax for tags and elements (XHTML Rules)</vt:lpstr>
      <vt:lpstr>XML Text</vt:lpstr>
      <vt:lpstr>Open each type of file   then parse thru JSON and XML  Use solely in the final project</vt:lpstr>
    </vt:vector>
  </TitlesOfParts>
  <Company>Mike Murach &amp; Associates,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Stephen</dc:creator>
  <cp:lastModifiedBy>Jennifer Whitley</cp:lastModifiedBy>
  <cp:revision>61</cp:revision>
  <dcterms:created xsi:type="dcterms:W3CDTF">2010-11-30T18:46:51Z</dcterms:created>
  <dcterms:modified xsi:type="dcterms:W3CDTF">2023-06-01T14:10:44Z</dcterms:modified>
</cp:coreProperties>
</file>